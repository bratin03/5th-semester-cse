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38"/>
  </p:notesMasterIdLst>
  <p:sldIdLst>
    <p:sldId id="547" r:id="rId2"/>
    <p:sldId id="669" r:id="rId3"/>
    <p:sldId id="548" r:id="rId4"/>
    <p:sldId id="668" r:id="rId5"/>
    <p:sldId id="556" r:id="rId6"/>
    <p:sldId id="557" r:id="rId7"/>
    <p:sldId id="558" r:id="rId8"/>
    <p:sldId id="559" r:id="rId9"/>
    <p:sldId id="560" r:id="rId10"/>
    <p:sldId id="561" r:id="rId11"/>
    <p:sldId id="562" r:id="rId12"/>
    <p:sldId id="563" r:id="rId13"/>
    <p:sldId id="564" r:id="rId14"/>
    <p:sldId id="565" r:id="rId15"/>
    <p:sldId id="566" r:id="rId16"/>
    <p:sldId id="567" r:id="rId17"/>
    <p:sldId id="568" r:id="rId18"/>
    <p:sldId id="569" r:id="rId19"/>
    <p:sldId id="570" r:id="rId20"/>
    <p:sldId id="571" r:id="rId21"/>
    <p:sldId id="572" r:id="rId22"/>
    <p:sldId id="573" r:id="rId23"/>
    <p:sldId id="574" r:id="rId24"/>
    <p:sldId id="575" r:id="rId25"/>
    <p:sldId id="576" r:id="rId26"/>
    <p:sldId id="577" r:id="rId27"/>
    <p:sldId id="578" r:id="rId28"/>
    <p:sldId id="579" r:id="rId29"/>
    <p:sldId id="580" r:id="rId30"/>
    <p:sldId id="581" r:id="rId31"/>
    <p:sldId id="582" r:id="rId32"/>
    <p:sldId id="583" r:id="rId33"/>
    <p:sldId id="584" r:id="rId34"/>
    <p:sldId id="585" r:id="rId35"/>
    <p:sldId id="586" r:id="rId36"/>
    <p:sldId id="58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835" autoAdjust="0"/>
  </p:normalViewPr>
  <p:slideViewPr>
    <p:cSldViewPr snapToGrid="0">
      <p:cViewPr varScale="1">
        <p:scale>
          <a:sx n="93" d="100"/>
          <a:sy n="93" d="100"/>
        </p:scale>
        <p:origin x="-96" y="-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interSettings" Target="printerSettings/printerSettings1.bin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image" Target="../media/image9.emf"/><Relationship Id="rId3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460DF-EB7B-469A-88A6-9D448ABB3F4B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67892-E758-4CE4-92A4-618DD948D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8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F026C-078E-4EE5-9BC2-B66583B329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0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182742-209D-4AD4-BCC0-D744EEC86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B6BB40C-C336-43B4-8A87-78E91DEAD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30F9BE-7EE4-41AE-9D36-3030AC04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2CEB7A5-46F8-40A4-82B6-04878333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65BF08A-4E85-47CB-AC56-053203DA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1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EAF563-41BA-4934-90FA-D44B0D71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E58FCB-BB80-461A-A0EE-DD05B5FB0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5345495-1438-4935-AB17-84E4DE45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4F61712-21CA-45C1-A1F8-91E2DCED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01EE83C-34D9-4B18-B1C1-D4E4528C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69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5B1A64-4DE2-4354-B466-643C1977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E6B15BD-C661-487C-AC09-B37A3ACFF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F14BA56-EF52-4182-9AC3-535F07D4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553EF1A-4522-49B8-B173-4807441D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0E32FA-87C4-4EBB-AE76-4BF91ADA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8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7EAE21-13C6-446B-AF3F-F96FDE60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9AAE339-3E49-4D2B-BE53-095BA5E2A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B8C131F-A559-4A6F-B802-6B8194664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44A92EA-FC68-47AF-B8A5-3B1E4152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23835A4-E7E9-4AEA-89C8-72D28D50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080B176-30BA-4D43-AAE7-FCE3D1EE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8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910AA8-73EC-440F-ADFF-EA50D5D6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AD91440-45FF-4488-87BC-F35B827C0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2C37B83-4BF8-4951-9574-A1CD18DC0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558ABF3-3772-4234-89E3-589093FE5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608A3C9-D222-460F-9343-56E79B62E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EDFE556A-A164-4F04-8ECD-A8B2A689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11F38F5-8E0A-41CB-B48A-80E2AEA1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94DAA36-931C-4CC3-BCCF-9D41F670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00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B0315B-58AB-473A-AAB2-6ABE409C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F79CD0F-8B29-4F0A-848C-8F8A7376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DE6270E-ABF7-4C57-88B0-D4A5E33B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D11A6B7-0207-49EE-BBDE-A82A2598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1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5AE1CFB-D2AF-4959-9D69-11EC0195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31A2CEA-7878-4D20-AC9F-2CB3B513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A2AC79B-4BBE-4EC1-936F-F2AA565F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09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69BCAD-58E5-4E36-8B51-1D7C442C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35476C6-3C83-4B22-AB72-ED185CC9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A33AC60-2D0C-4ECD-ACFC-C8038D150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A248922-2E5A-4FF6-9EBB-7F869BDA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EF0A630-E119-4E0B-B7DC-8C7CCF36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2E7E74E-13CD-4FE7-9281-ECA69C79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48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770500-7D46-4FE1-BFA8-267D29BF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3489865-DC41-4C9A-8FC0-8AC3A422C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457AD87-D6BE-455A-A128-345AA8F6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BF2FBD1-7164-4773-82B5-39478DB3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D5760A-5271-4174-A87B-587A1059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9FB756A-85CD-4B73-ACD9-C849994C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40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75A5CF-B6CD-4C88-93D7-3ABF7A66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7F5C0FC-B2B0-4148-A1BD-38A8D67F9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C40223-CCC8-489F-BDB1-24CBC0ED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6880D4-F616-4B97-9A14-3C343470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93A3D93-E61C-4206-A227-C476ACB5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84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9A2BEB68-62B8-470C-AE19-868FBB2E3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C1300CD-54A0-406F-BA0E-61417F4C3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4D21733-86FF-42C7-BE02-C36308FD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03/10/23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591238-A565-492B-AE8D-5740E31D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7C2359-3D1A-44AB-B11A-FFDC86CC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05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60DD19B-906E-495E-B8BB-00BF7DF0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42D0EEB-380A-4F51-A933-D1276FE83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3A3EE9C-9259-433C-8C3A-B3F770A1D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1F8E49-7C34-491A-B133-778D3DDBC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6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9.emf"/><Relationship Id="rId7" Type="http://schemas.openxmlformats.org/officeDocument/2006/relationships/oleObject" Target="../embeddings/oleObject3.bin"/><Relationship Id="rId8" Type="http://schemas.openxmlformats.org/officeDocument/2006/relationships/image" Target="../media/image10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406400" y="888999"/>
            <a:ext cx="11379200" cy="208378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189" indent="-457189" algn="ctr">
              <a:lnSpc>
                <a:spcPct val="140000"/>
              </a:lnSpc>
              <a:spcAft>
                <a:spcPts val="800"/>
              </a:spcAft>
              <a:defRPr/>
            </a:pPr>
            <a:r>
              <a:rPr lang="en-US" sz="5067" b="1" dirty="0">
                <a:solidFill>
                  <a:srgbClr val="800000"/>
                </a:solidFill>
                <a:cs typeface="Times New Roman" pitchFamily="18" charset="0"/>
              </a:rPr>
              <a:t>Computer Organization and Architecture</a:t>
            </a:r>
          </a:p>
          <a:p>
            <a:pPr marL="457189" indent="-457189" algn="ctr" defTabSz="1219170">
              <a:spcBef>
                <a:spcPct val="20000"/>
              </a:spcBef>
              <a:defRPr/>
            </a:pPr>
            <a:r>
              <a:rPr lang="en-US" sz="3600" b="1" dirty="0" smtClean="0">
                <a:solidFill>
                  <a:schemeClr val="accent2"/>
                </a:solidFill>
                <a:latin typeface="Century Gothic" pitchFamily="34" charset="0"/>
                <a:cs typeface="Arial" pitchFamily="34" charset="0"/>
              </a:rPr>
              <a:t>Module 5</a:t>
            </a:r>
            <a:endParaRPr lang="en-US" sz="3600" b="1" dirty="0">
              <a:solidFill>
                <a:schemeClr val="accent2"/>
              </a:solidFill>
              <a:latin typeface="Century Gothic" pitchFamily="34" charset="0"/>
              <a:cs typeface="Arial" pitchFamily="34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685333" y="3435151"/>
            <a:ext cx="8534400" cy="2359080"/>
          </a:xfrm>
          <a:prstGeom prst="rect">
            <a:avLst/>
          </a:prstGeom>
        </p:spPr>
        <p:txBody>
          <a:bodyPr vert="horz" lIns="121920" tIns="60960" rIns="121920" bIns="60960" rtlCol="0">
            <a:normAutofit lnSpcReduction="10000"/>
          </a:bodyPr>
          <a:lstStyle/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667" b="1" dirty="0">
                <a:solidFill>
                  <a:srgbClr val="000090"/>
                </a:solidFill>
                <a:cs typeface="Arial" pitchFamily="34" charset="0"/>
              </a:rPr>
              <a:t>Prof. Indranil Sengupta</a:t>
            </a:r>
          </a:p>
          <a:p>
            <a:pPr algn="ctr" defTabSz="1219170">
              <a:spcBef>
                <a:spcPct val="20000"/>
              </a:spcBef>
              <a:spcAft>
                <a:spcPts val="2000"/>
              </a:spcAft>
              <a:defRPr/>
            </a:pPr>
            <a:r>
              <a:rPr lang="en-US" sz="2667" b="1" dirty="0">
                <a:solidFill>
                  <a:srgbClr val="000090"/>
                </a:solidFill>
                <a:cs typeface="Arial" pitchFamily="34" charset="0"/>
              </a:rPr>
              <a:t>Dr. </a:t>
            </a:r>
            <a:r>
              <a:rPr lang="en-US" sz="2667" b="1" dirty="0" err="1">
                <a:solidFill>
                  <a:srgbClr val="000090"/>
                </a:solidFill>
                <a:cs typeface="Arial" pitchFamily="34" charset="0"/>
              </a:rPr>
              <a:t>Sarani</a:t>
            </a:r>
            <a:r>
              <a:rPr lang="en-US" sz="2667" b="1" dirty="0">
                <a:solidFill>
                  <a:srgbClr val="000090"/>
                </a:solidFill>
                <a:cs typeface="Arial" pitchFamily="34" charset="0"/>
              </a:rPr>
              <a:t> Bhattacharya</a:t>
            </a:r>
          </a:p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667" b="1" dirty="0">
                <a:solidFill>
                  <a:srgbClr val="000090"/>
                </a:solidFill>
                <a:cs typeface="Arial" pitchFamily="34" charset="0"/>
              </a:rPr>
              <a:t>Department of </a:t>
            </a:r>
            <a:r>
              <a:rPr lang="en-US" sz="2667" b="1" dirty="0" smtClean="0">
                <a:solidFill>
                  <a:srgbClr val="000090"/>
                </a:solidFill>
                <a:cs typeface="Arial" pitchFamily="34" charset="0"/>
              </a:rPr>
              <a:t>Computer Science and Engineering </a:t>
            </a:r>
          </a:p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667" b="1" dirty="0" smtClean="0">
                <a:solidFill>
                  <a:srgbClr val="000090"/>
                </a:solidFill>
                <a:cs typeface="Arial" pitchFamily="34" charset="0"/>
              </a:rPr>
              <a:t>IIT </a:t>
            </a:r>
            <a:r>
              <a:rPr lang="en-US" sz="2667" b="1" dirty="0" err="1">
                <a:solidFill>
                  <a:srgbClr val="000090"/>
                </a:solidFill>
                <a:cs typeface="Arial" pitchFamily="34" charset="0"/>
              </a:rPr>
              <a:t>Kharagpur</a:t>
            </a:r>
            <a:endParaRPr lang="en-US" sz="2667" b="1" dirty="0">
              <a:solidFill>
                <a:srgbClr val="00009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193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Computer Arithmetic</a:t>
            </a:r>
            <a:endParaRPr lang="en-US" sz="40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8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Computers are built using tiny electronic switches.</a:t>
            </a:r>
          </a:p>
          <a:p>
            <a:pPr lvl="1"/>
            <a:r>
              <a:rPr lang="en-US" dirty="0" smtClean="0"/>
              <a:t>Typically made up of MOS transistors.</a:t>
            </a:r>
          </a:p>
          <a:p>
            <a:pPr lvl="1">
              <a:spcAft>
                <a:spcPts val="1800"/>
              </a:spcAft>
            </a:pPr>
            <a:r>
              <a:rPr lang="en-US" dirty="0" smtClean="0"/>
              <a:t>The state of the switches are typically expressed in binary (ON/OFF).</a:t>
            </a:r>
          </a:p>
          <a:p>
            <a:r>
              <a:rPr lang="en-US" dirty="0" smtClean="0"/>
              <a:t>To design arithmetic circuits for use in computers, we need to work with </a:t>
            </a:r>
            <a:r>
              <a:rPr lang="en-US" i="1" dirty="0" smtClean="0">
                <a:solidFill>
                  <a:srgbClr val="800000"/>
                </a:solidFill>
              </a:rPr>
              <a:t>binary numbers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How to carry out various arithmetic operations in binary?</a:t>
            </a:r>
          </a:p>
          <a:p>
            <a:pPr lvl="1"/>
            <a:r>
              <a:rPr lang="en-US" dirty="0" smtClean="0"/>
              <a:t>How to implement them efficiently in hardware?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800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Addition / Subtraction</a:t>
            </a:r>
            <a:endParaRPr lang="en-US" sz="40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35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 of Two Binary Digits (Bits)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When two bits A and B are added, a sum (S) and carry (C) are generated as per the following truth table: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362412"/>
              </p:ext>
            </p:extLst>
          </p:nvPr>
        </p:nvGraphicFramePr>
        <p:xfrm>
          <a:off x="302804" y="2819400"/>
          <a:ext cx="3257997" cy="2755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6"/>
                <a:gridCol w="792486"/>
                <a:gridCol w="792486"/>
                <a:gridCol w="880539"/>
              </a:tblGrid>
              <a:tr h="4663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Inputs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Outputs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4535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B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535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535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535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535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64000" y="3022601"/>
            <a:ext cx="1202496" cy="12311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dirty="0" smtClean="0"/>
              <a:t>0 + 0 = 00</a:t>
            </a:r>
          </a:p>
          <a:p>
            <a:r>
              <a:rPr lang="en-US" dirty="0" smtClean="0"/>
              <a:t>0 + 1 = 01</a:t>
            </a:r>
          </a:p>
          <a:p>
            <a:r>
              <a:rPr lang="en-US" dirty="0" smtClean="0"/>
              <a:t>1 + 0 = 01</a:t>
            </a:r>
          </a:p>
          <a:p>
            <a:r>
              <a:rPr lang="en-US" dirty="0" smtClean="0"/>
              <a:t>1 + 1 = 10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32800" y="2921001"/>
            <a:ext cx="3454400" cy="779697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dirty="0" smtClean="0"/>
              <a:t>S = A’.B + A.B’ = A </a:t>
            </a:r>
            <a:r>
              <a:rPr lang="en-US" dirty="0" smtClean="0">
                <a:sym typeface="Symbol" charset="0"/>
              </a:rPr>
              <a:t></a:t>
            </a:r>
            <a:r>
              <a:rPr lang="en-US" dirty="0" smtClean="0"/>
              <a:t> B</a:t>
            </a:r>
          </a:p>
          <a:p>
            <a:r>
              <a:rPr lang="en-US" dirty="0" smtClean="0"/>
              <a:t>C = A.B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02" y="3980085"/>
            <a:ext cx="2260033" cy="1461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84800" y="4953001"/>
            <a:ext cx="2540000" cy="61555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90"/>
                </a:solidFill>
              </a:rPr>
              <a:t>HALF ADDER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87604" y="3300512"/>
            <a:ext cx="2415496" cy="1042888"/>
            <a:chOff x="379501" y="1179984"/>
            <a:chExt cx="1811624" cy="782166"/>
          </a:xfrm>
        </p:grpSpPr>
        <p:sp>
          <p:nvSpPr>
            <p:cNvPr id="11" name="Rectangle 10"/>
            <p:cNvSpPr/>
            <p:nvPr/>
          </p:nvSpPr>
          <p:spPr>
            <a:xfrm>
              <a:off x="914400" y="120015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HA</a:t>
              </a:r>
              <a:endParaRPr lang="en-US" sz="2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609600" y="13525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09600" y="18097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1600200" y="18097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1600200" y="13525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876987" y="1658191"/>
              <a:ext cx="30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6325" y="1198662"/>
              <a:ext cx="30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8180" y="1646523"/>
              <a:ext cx="30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9501" y="1179984"/>
              <a:ext cx="30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093579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 of Multi-bit Binary Numbers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6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914400" y="1701801"/>
            <a:ext cx="5080000" cy="1867177"/>
            <a:chOff x="685800" y="1276350"/>
            <a:chExt cx="3810000" cy="1400383"/>
          </a:xfrm>
        </p:grpSpPr>
        <p:sp>
          <p:nvSpPr>
            <p:cNvPr id="5" name="TextBox 4"/>
            <p:cNvSpPr txBox="1"/>
            <p:nvPr/>
          </p:nvSpPr>
          <p:spPr>
            <a:xfrm>
              <a:off x="685800" y="1276350"/>
              <a:ext cx="1905000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700" dirty="0">
                  <a:solidFill>
                    <a:srgbClr val="3366FF"/>
                  </a:solidFill>
                </a:rPr>
                <a:t>0 0 </a:t>
              </a:r>
              <a:r>
                <a:rPr lang="en-US" sz="2700" dirty="0">
                  <a:solidFill>
                    <a:srgbClr val="FF0000"/>
                  </a:solidFill>
                </a:rPr>
                <a:t>1 </a:t>
              </a:r>
              <a:r>
                <a:rPr lang="en-US" sz="2700" dirty="0">
                  <a:solidFill>
                    <a:srgbClr val="3366FF"/>
                  </a:solidFill>
                </a:rPr>
                <a:t>0</a:t>
              </a:r>
              <a:r>
                <a:rPr lang="en-US" sz="2700" dirty="0">
                  <a:solidFill>
                    <a:srgbClr val="FF0000"/>
                  </a:solidFill>
                </a:rPr>
                <a:t> 1 1 </a:t>
              </a:r>
              <a:r>
                <a:rPr lang="en-US" sz="2700" dirty="0"/>
                <a:t>0   </a:t>
              </a:r>
            </a:p>
            <a:p>
              <a:pPr algn="r"/>
              <a:r>
                <a:rPr lang="en-US" sz="2700" dirty="0"/>
                <a:t>0 1 0 1 0 1 1</a:t>
              </a:r>
            </a:p>
            <a:p>
              <a:pPr algn="r">
                <a:spcAft>
                  <a:spcPts val="800"/>
                </a:spcAft>
              </a:pPr>
              <a:r>
                <a:rPr lang="en-US" sz="2700" dirty="0"/>
                <a:t>+  0 0 0 1 0 0 1</a:t>
              </a:r>
            </a:p>
            <a:p>
              <a:pPr algn="r"/>
              <a:r>
                <a:rPr lang="en-US" sz="2700" dirty="0"/>
                <a:t> 0 1 1 0 1 0 0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914400" y="2266950"/>
              <a:ext cx="16764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124200" y="15811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Number A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24200" y="18859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Number B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24200" y="22669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Sum S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24200" y="12763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Carry</a:t>
              </a:r>
              <a:endParaRPr lang="en-US" dirty="0"/>
            </a:p>
          </p:txBody>
        </p:sp>
        <p:cxnSp>
          <p:nvCxnSpPr>
            <p:cNvPr id="14" name="Straight Arrow Connector 13"/>
            <p:cNvCxnSpPr>
              <a:stCxn id="12" idx="1"/>
            </p:cNvCxnSpPr>
            <p:nvPr/>
          </p:nvCxnSpPr>
          <p:spPr>
            <a:xfrm flipH="1">
              <a:off x="2514600" y="14148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1"/>
            </p:cNvCxnSpPr>
            <p:nvPr/>
          </p:nvCxnSpPr>
          <p:spPr>
            <a:xfrm flipH="1">
              <a:off x="2514600" y="17196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0" idx="1"/>
            </p:cNvCxnSpPr>
            <p:nvPr/>
          </p:nvCxnSpPr>
          <p:spPr>
            <a:xfrm flipH="1">
              <a:off x="2514600" y="20244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1" idx="1"/>
            </p:cNvCxnSpPr>
            <p:nvPr/>
          </p:nvCxnSpPr>
          <p:spPr>
            <a:xfrm flipH="1">
              <a:off x="2514600" y="24054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6299200" y="1701801"/>
            <a:ext cx="5080000" cy="1867177"/>
            <a:chOff x="685800" y="1276350"/>
            <a:chExt cx="3810000" cy="1400383"/>
          </a:xfrm>
        </p:grpSpPr>
        <p:sp>
          <p:nvSpPr>
            <p:cNvPr id="23" name="TextBox 22"/>
            <p:cNvSpPr txBox="1"/>
            <p:nvPr/>
          </p:nvSpPr>
          <p:spPr>
            <a:xfrm>
              <a:off x="685800" y="1276350"/>
              <a:ext cx="1905000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700" dirty="0">
                  <a:solidFill>
                    <a:srgbClr val="FF0000"/>
                  </a:solidFill>
                </a:rPr>
                <a:t>1 1 1 1 1 1 </a:t>
              </a:r>
              <a:r>
                <a:rPr lang="en-US" sz="2700" dirty="0"/>
                <a:t>0   </a:t>
              </a:r>
            </a:p>
            <a:p>
              <a:pPr algn="r"/>
              <a:r>
                <a:rPr lang="en-US" sz="2700" dirty="0"/>
                <a:t>0 1 1 1 1 1 1</a:t>
              </a:r>
            </a:p>
            <a:p>
              <a:pPr algn="r">
                <a:spcAft>
                  <a:spcPts val="800"/>
                </a:spcAft>
              </a:pPr>
              <a:r>
                <a:rPr lang="en-US" sz="2700" dirty="0"/>
                <a:t>+  0 0 0 0 0 0 1</a:t>
              </a:r>
            </a:p>
            <a:p>
              <a:pPr algn="r"/>
              <a:r>
                <a:rPr lang="en-US" sz="2700" dirty="0"/>
                <a:t> 1 0 0 0 0 0 0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914400" y="2266950"/>
              <a:ext cx="16764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3124200" y="15811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Number A</a:t>
              </a:r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124200" y="18859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Number B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124200" y="22669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Sum S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24200" y="12763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Carry</a:t>
              </a:r>
              <a:endParaRPr lang="en-US" dirty="0"/>
            </a:p>
          </p:txBody>
        </p:sp>
        <p:cxnSp>
          <p:nvCxnSpPr>
            <p:cNvPr id="29" name="Straight Arrow Connector 28"/>
            <p:cNvCxnSpPr>
              <a:stCxn id="28" idx="1"/>
            </p:cNvCxnSpPr>
            <p:nvPr/>
          </p:nvCxnSpPr>
          <p:spPr>
            <a:xfrm flipH="1">
              <a:off x="2514600" y="14148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5" idx="1"/>
            </p:cNvCxnSpPr>
            <p:nvPr/>
          </p:nvCxnSpPr>
          <p:spPr>
            <a:xfrm flipH="1">
              <a:off x="2514600" y="17196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6" idx="1"/>
            </p:cNvCxnSpPr>
            <p:nvPr/>
          </p:nvCxnSpPr>
          <p:spPr>
            <a:xfrm flipH="1">
              <a:off x="2514600" y="20244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7" idx="1"/>
            </p:cNvCxnSpPr>
            <p:nvPr/>
          </p:nvCxnSpPr>
          <p:spPr>
            <a:xfrm flipH="1">
              <a:off x="2514600" y="24054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1219200" y="3937000"/>
            <a:ext cx="9347200" cy="161582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marL="234945" indent="-234945">
              <a:spcAft>
                <a:spcPts val="400"/>
              </a:spcAft>
              <a:buFont typeface="Arial"/>
              <a:buChar char="•"/>
            </a:pPr>
            <a:r>
              <a:rPr lang="en-US" sz="2400" dirty="0"/>
              <a:t>At every bit position (stage), we require to add 3 bits:</a:t>
            </a:r>
          </a:p>
          <a:p>
            <a:pPr marL="990575" lvl="1" indent="-380990">
              <a:spcAft>
                <a:spcPts val="400"/>
              </a:spcAft>
              <a:buFont typeface="Wingdings" charset="2"/>
              <a:buChar char="Ø"/>
            </a:pPr>
            <a:r>
              <a:rPr lang="en-US" sz="2000" dirty="0" smtClean="0"/>
              <a:t>1 bit for number A</a:t>
            </a:r>
          </a:p>
          <a:p>
            <a:pPr marL="990575" lvl="1" indent="-380990">
              <a:spcAft>
                <a:spcPts val="400"/>
              </a:spcAft>
              <a:buFont typeface="Wingdings" charset="2"/>
              <a:buChar char="Ø"/>
            </a:pPr>
            <a:r>
              <a:rPr lang="en-US" sz="2000" dirty="0" smtClean="0"/>
              <a:t>1 bit for number B</a:t>
            </a:r>
          </a:p>
          <a:p>
            <a:pPr marL="990575" lvl="1" indent="-380990">
              <a:buFont typeface="Wingdings" charset="2"/>
              <a:buChar char="Ø"/>
            </a:pPr>
            <a:r>
              <a:rPr lang="en-US" sz="2000" dirty="0" smtClean="0"/>
              <a:t>1 carry bit coming from the previous stage</a:t>
            </a:r>
            <a:endParaRPr 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7620000" y="4642248"/>
            <a:ext cx="4368800" cy="61555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3200" b="1" dirty="0">
                <a:solidFill>
                  <a:srgbClr val="000090"/>
                </a:solidFill>
              </a:rPr>
              <a:t>WE NEED A FULL ADDER</a:t>
            </a:r>
          </a:p>
        </p:txBody>
      </p:sp>
    </p:spTree>
    <p:extLst>
      <p:ext uri="{BB962C8B-B14F-4D97-AF65-F5344CB8AC3E}">
        <p14:creationId xmlns:p14="http://schemas.microsoft.com/office/powerpoint/2010/main" val="23817025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7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7924800" y="1092200"/>
            <a:ext cx="2844800" cy="1117600"/>
            <a:chOff x="304800" y="2266950"/>
            <a:chExt cx="2133600" cy="838200"/>
          </a:xfrm>
        </p:grpSpPr>
        <p:sp>
          <p:nvSpPr>
            <p:cNvPr id="12" name="Rectangle 11"/>
            <p:cNvSpPr/>
            <p:nvPr/>
          </p:nvSpPr>
          <p:spPr>
            <a:xfrm>
              <a:off x="914400" y="234315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</a:t>
              </a:r>
              <a:r>
                <a:rPr lang="en-US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</a:t>
              </a:r>
              <a:endParaRPr lang="en-US" sz="2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609600" y="24955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609600" y="29527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1600200" y="29527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1600200" y="24955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09600" y="27241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905000" y="2735818"/>
              <a:ext cx="5334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 smtClean="0"/>
                <a:t>C</a:t>
              </a:r>
              <a:r>
                <a:rPr lang="en-US" sz="2000" baseline="-25000" dirty="0" err="1" smtClean="0"/>
                <a:t>out</a:t>
              </a:r>
              <a:endParaRPr lang="en-US" sz="2000" baseline="-25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05000" y="2278618"/>
              <a:ext cx="3048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4800" y="27241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 smtClean="0"/>
                <a:t>C</a:t>
              </a:r>
              <a:r>
                <a:rPr lang="en-US" sz="2000" baseline="-25000" dirty="0" err="1" smtClean="0"/>
                <a:t>in</a:t>
              </a:r>
              <a:endParaRPr lang="en-US" sz="2000" baseline="-250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04800" y="2495550"/>
              <a:ext cx="3048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4800" y="2266950"/>
              <a:ext cx="3048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A</a:t>
              </a:r>
              <a:endParaRPr lang="en-US" sz="2000" dirty="0"/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958934"/>
              </p:ext>
            </p:extLst>
          </p:nvPr>
        </p:nvGraphicFramePr>
        <p:xfrm>
          <a:off x="622516" y="1075111"/>
          <a:ext cx="4965485" cy="469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097"/>
                <a:gridCol w="993097"/>
                <a:gridCol w="993097"/>
                <a:gridCol w="993097"/>
                <a:gridCol w="993097"/>
              </a:tblGrid>
              <a:tr h="4670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Inputs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Outputs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B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C</a:t>
                      </a:r>
                      <a:r>
                        <a:rPr lang="en-US" sz="2000" baseline="-25000" dirty="0" err="1" smtClean="0"/>
                        <a:t>in</a:t>
                      </a:r>
                      <a:endParaRPr lang="en-US" sz="2000" baseline="-25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C</a:t>
                      </a:r>
                      <a:r>
                        <a:rPr lang="en-US" sz="2000" baseline="-25000" dirty="0" err="1" smtClean="0"/>
                        <a:t>out</a:t>
                      </a:r>
                      <a:endParaRPr lang="en-US" sz="2000" baseline="-25000" dirty="0"/>
                    </a:p>
                  </a:txBody>
                  <a:tcPr marL="121920" marR="121920" marT="60960" marB="60960"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  <a:tr h="4670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11200" y="287425"/>
            <a:ext cx="4368800" cy="61555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90"/>
                </a:solidFill>
              </a:rPr>
              <a:t>Full Adder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6475" y="2933453"/>
            <a:ext cx="5168239" cy="184460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 smtClean="0"/>
              <a:t>S   = A’.B’.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in</a:t>
            </a:r>
            <a:r>
              <a:rPr lang="en-US" sz="2400" dirty="0" smtClean="0"/>
              <a:t> + A’.</a:t>
            </a:r>
            <a:r>
              <a:rPr lang="en-US" sz="2400" dirty="0" err="1" smtClean="0"/>
              <a:t>B.C</a:t>
            </a:r>
            <a:r>
              <a:rPr lang="en-US" sz="2400" baseline="-25000" dirty="0" err="1" smtClean="0"/>
              <a:t>in</a:t>
            </a:r>
            <a:r>
              <a:rPr lang="en-US" sz="2400" dirty="0" smtClean="0"/>
              <a:t>’ + </a:t>
            </a:r>
            <a:r>
              <a:rPr lang="en-US" sz="2400" dirty="0" err="1" smtClean="0"/>
              <a:t>A.B’C</a:t>
            </a:r>
            <a:r>
              <a:rPr lang="en-US" sz="2400" baseline="-25000" dirty="0" err="1" smtClean="0"/>
              <a:t>in</a:t>
            </a:r>
            <a:r>
              <a:rPr lang="en-US" sz="2400" dirty="0" smtClean="0"/>
              <a:t>’ + A.B.C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2400" dirty="0"/>
              <a:t> </a:t>
            </a:r>
            <a:r>
              <a:rPr lang="en-US" sz="2400" dirty="0" smtClean="0"/>
              <a:t>    = A </a:t>
            </a:r>
            <a:r>
              <a:rPr lang="en-US" sz="2400" dirty="0">
                <a:sym typeface="Symbol" charset="0"/>
              </a:rPr>
              <a:t></a:t>
            </a:r>
            <a:r>
              <a:rPr lang="en-US" sz="2400" dirty="0" smtClean="0"/>
              <a:t> B </a:t>
            </a:r>
            <a:r>
              <a:rPr lang="en-US" sz="2400" dirty="0">
                <a:sym typeface="Symbol" charset="0"/>
              </a:rPr>
              <a:t></a:t>
            </a:r>
            <a:r>
              <a:rPr lang="en-US" sz="2400" dirty="0" smtClean="0"/>
              <a:t>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in</a:t>
            </a:r>
            <a:endParaRPr lang="en-US" sz="2400" baseline="-25000" dirty="0" smtClean="0"/>
          </a:p>
          <a:p>
            <a:pPr>
              <a:lnSpc>
                <a:spcPct val="110000"/>
              </a:lnSpc>
            </a:pPr>
            <a:r>
              <a:rPr lang="en-US" sz="2400" dirty="0" err="1" smtClean="0"/>
              <a:t>C</a:t>
            </a:r>
            <a:r>
              <a:rPr lang="en-US" sz="2400" baseline="-25000" dirty="0" err="1" smtClean="0"/>
              <a:t>out</a:t>
            </a:r>
            <a:r>
              <a:rPr lang="en-US" sz="2400" dirty="0" smtClean="0"/>
              <a:t> = </a:t>
            </a:r>
            <a:r>
              <a:rPr lang="en-US" sz="2400" dirty="0" err="1" smtClean="0"/>
              <a:t>B.C</a:t>
            </a:r>
            <a:r>
              <a:rPr lang="en-US" sz="2400" baseline="-25000" dirty="0" err="1" smtClean="0"/>
              <a:t>in</a:t>
            </a:r>
            <a:r>
              <a:rPr lang="en-US" sz="2400" dirty="0" smtClean="0"/>
              <a:t> + </a:t>
            </a:r>
            <a:r>
              <a:rPr lang="en-US" sz="2400" dirty="0" err="1" smtClean="0"/>
              <a:t>A.C</a:t>
            </a:r>
            <a:r>
              <a:rPr lang="en-US" sz="2400" baseline="-25000" dirty="0" err="1" smtClean="0"/>
              <a:t>in</a:t>
            </a:r>
            <a:r>
              <a:rPr lang="en-US" sz="2400" dirty="0" smtClean="0"/>
              <a:t> + A.B + </a:t>
            </a:r>
            <a:r>
              <a:rPr lang="en-US" sz="2400" dirty="0" err="1" smtClean="0"/>
              <a:t>A.B.C</a:t>
            </a:r>
            <a:r>
              <a:rPr lang="en-US" sz="2400" baseline="-25000" dirty="0" err="1" smtClean="0"/>
              <a:t>in</a:t>
            </a:r>
            <a:endParaRPr lang="en-US" sz="2400" baseline="-25000" dirty="0" smtClean="0"/>
          </a:p>
          <a:p>
            <a:pPr>
              <a:lnSpc>
                <a:spcPct val="110000"/>
              </a:lnSpc>
            </a:pPr>
            <a:r>
              <a:rPr lang="en-US" sz="2400" dirty="0"/>
              <a:t> </a:t>
            </a:r>
            <a:r>
              <a:rPr lang="en-US" sz="2400" dirty="0" smtClean="0"/>
              <a:t>       = A.B + </a:t>
            </a:r>
            <a:r>
              <a:rPr lang="en-US" sz="2400" dirty="0" err="1" smtClean="0"/>
              <a:t>B.C</a:t>
            </a:r>
            <a:r>
              <a:rPr lang="en-US" sz="2400" baseline="-25000" dirty="0" err="1" smtClean="0"/>
              <a:t>in</a:t>
            </a:r>
            <a:r>
              <a:rPr lang="en-US" sz="2400" dirty="0" smtClean="0"/>
              <a:t> + </a:t>
            </a:r>
            <a:r>
              <a:rPr lang="en-US" sz="2400" dirty="0" err="1" smtClean="0"/>
              <a:t>A.C</a:t>
            </a:r>
            <a:r>
              <a:rPr lang="en-US" sz="2400" baseline="-25000" dirty="0" err="1" smtClean="0"/>
              <a:t>in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810077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Various Implementations of Full Adder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563" y="1580343"/>
            <a:ext cx="3588661" cy="22836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498601"/>
            <a:ext cx="4368800" cy="2945631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5005038" y="4308430"/>
            <a:ext cx="6658055" cy="1538585"/>
            <a:chOff x="3886200" y="2842796"/>
            <a:chExt cx="5181600" cy="1176754"/>
          </a:xfrm>
        </p:grpSpPr>
        <p:grpSp>
          <p:nvGrpSpPr>
            <p:cNvPr id="12" name="Group 11"/>
            <p:cNvGrpSpPr/>
            <p:nvPr/>
          </p:nvGrpSpPr>
          <p:grpSpPr>
            <a:xfrm>
              <a:off x="4572000" y="2876550"/>
              <a:ext cx="1447800" cy="762000"/>
              <a:chOff x="5486400" y="2876550"/>
              <a:chExt cx="1447800" cy="762000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5486400" y="2876550"/>
                <a:ext cx="1295400" cy="762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HALF</a:t>
                </a:r>
              </a:p>
              <a:p>
                <a:pPr algn="ctr"/>
                <a:r>
                  <a:rPr lang="en-US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ADDER</a:t>
                </a:r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477000" y="3257550"/>
                <a:ext cx="457200" cy="311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S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477000" y="2876550"/>
                <a:ext cx="457200" cy="311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C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486400" y="3257550"/>
                <a:ext cx="457200" cy="311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B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486400" y="2876550"/>
                <a:ext cx="457200" cy="311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A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172200" y="3257550"/>
              <a:ext cx="1447800" cy="762000"/>
              <a:chOff x="5486400" y="2876550"/>
              <a:chExt cx="1447800" cy="7620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5486400" y="2876550"/>
                <a:ext cx="1295400" cy="762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HALF</a:t>
                </a:r>
              </a:p>
              <a:p>
                <a:pPr algn="ctr"/>
                <a:r>
                  <a:rPr lang="en-US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ADDER</a:t>
                </a:r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477000" y="3257550"/>
                <a:ext cx="457200" cy="311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S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477000" y="2876550"/>
                <a:ext cx="457200" cy="311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C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486400" y="3257550"/>
                <a:ext cx="457200" cy="311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B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486400" y="2876550"/>
                <a:ext cx="457200" cy="311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A</a:t>
                </a:r>
              </a:p>
            </p:txBody>
          </p:sp>
        </p:grpSp>
        <p:cxnSp>
          <p:nvCxnSpPr>
            <p:cNvPr id="20" name="Straight Connector 19"/>
            <p:cNvCxnSpPr>
              <a:endCxn id="18" idx="1"/>
            </p:cNvCxnSpPr>
            <p:nvPr/>
          </p:nvCxnSpPr>
          <p:spPr>
            <a:xfrm>
              <a:off x="5867400" y="3409950"/>
              <a:ext cx="304800" cy="341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endCxn id="11" idx="1"/>
            </p:cNvCxnSpPr>
            <p:nvPr/>
          </p:nvCxnSpPr>
          <p:spPr>
            <a:xfrm>
              <a:off x="4191000" y="3028950"/>
              <a:ext cx="381000" cy="341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191000" y="3409950"/>
              <a:ext cx="381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17" idx="1"/>
            </p:cNvCxnSpPr>
            <p:nvPr/>
          </p:nvCxnSpPr>
          <p:spPr>
            <a:xfrm flipV="1">
              <a:off x="4191000" y="3794362"/>
              <a:ext cx="1981200" cy="1346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7467600" y="3790950"/>
              <a:ext cx="11430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7696200" y="2876550"/>
              <a:ext cx="533400" cy="6858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0D0D0D"/>
                  </a:solidFill>
                </a:rPr>
                <a:t>OR</a:t>
              </a:r>
              <a:endParaRPr lang="en-US" dirty="0">
                <a:solidFill>
                  <a:srgbClr val="0D0D0D"/>
                </a:solidFill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5867400" y="3028950"/>
              <a:ext cx="1828800" cy="36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467600" y="3409950"/>
              <a:ext cx="2286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8" idx="3"/>
            </p:cNvCxnSpPr>
            <p:nvPr/>
          </p:nvCxnSpPr>
          <p:spPr>
            <a:xfrm flipV="1">
              <a:off x="8229600" y="3181350"/>
              <a:ext cx="304800" cy="36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886200" y="2842796"/>
              <a:ext cx="457200" cy="311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dirty="0"/>
                <a:t>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86200" y="3223796"/>
              <a:ext cx="457200" cy="311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dirty="0"/>
                <a:t>B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886200" y="3604796"/>
              <a:ext cx="609600" cy="311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dirty="0" err="1"/>
                <a:t>C</a:t>
              </a:r>
              <a:r>
                <a:rPr lang="en-US" sz="2100" baseline="-25000" dirty="0" err="1"/>
                <a:t>in</a:t>
              </a:r>
              <a:endParaRPr lang="en-US" sz="21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610600" y="3604796"/>
              <a:ext cx="457200" cy="311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dirty="0"/>
                <a:t>S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1012116" y="4491190"/>
            <a:ext cx="812800" cy="45140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 err="1"/>
              <a:t>C</a:t>
            </a:r>
            <a:r>
              <a:rPr lang="en-US" sz="2100" baseline="-25000" dirty="0" err="1"/>
              <a:t>out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6297441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9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04800" y="1600202"/>
            <a:ext cx="6604000" cy="3962399"/>
          </a:xfrm>
        </p:spPr>
        <p:txBody>
          <a:bodyPr/>
          <a:lstStyle/>
          <a:p>
            <a:r>
              <a:rPr lang="en-US" sz="2700" b="1" dirty="0">
                <a:solidFill>
                  <a:srgbClr val="800000"/>
                </a:solidFill>
              </a:rPr>
              <a:t>Delay of a full adder:</a:t>
            </a:r>
          </a:p>
          <a:p>
            <a:pPr lvl="1"/>
            <a:r>
              <a:rPr lang="en-US" dirty="0"/>
              <a:t>Assume that the delay of all basic gates (AND, OR, NAND, NOR, NOT) is </a:t>
            </a:r>
            <a:r>
              <a:rPr lang="en-US" dirty="0" err="1"/>
              <a:t>δ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Delay for Carry = 2δ</a:t>
            </a:r>
          </a:p>
          <a:p>
            <a:pPr lvl="1"/>
            <a:r>
              <a:rPr lang="en-US" dirty="0"/>
              <a:t>Delay for Sum   = 3δ</a:t>
            </a:r>
          </a:p>
          <a:p>
            <a:pPr marL="1142971" lvl="2" indent="0">
              <a:buNone/>
            </a:pPr>
            <a:r>
              <a:rPr lang="en-US" dirty="0" smtClean="0"/>
              <a:t>(AND-OR delay plus one inverter delay)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0" y="1702570"/>
            <a:ext cx="4368800" cy="294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70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Adder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shall look at the various designs of n-bit parallel adder.</a:t>
            </a:r>
          </a:p>
          <a:p>
            <a:pPr marL="1219170" lvl="1" indent="-609585">
              <a:buFont typeface="+mj-lt"/>
              <a:buAutoNum type="alphaLcParenR"/>
            </a:pPr>
            <a:r>
              <a:rPr lang="en-US" dirty="0" smtClean="0"/>
              <a:t>Ripple carry adder</a:t>
            </a:r>
          </a:p>
          <a:p>
            <a:pPr marL="1219170" lvl="1" indent="-609585">
              <a:buFont typeface="+mj-lt"/>
              <a:buAutoNum type="alphaLcParenR"/>
            </a:pPr>
            <a:r>
              <a:rPr lang="en-US" dirty="0" smtClean="0"/>
              <a:t>Carry look-ahead adder</a:t>
            </a:r>
          </a:p>
          <a:p>
            <a:pPr marL="1219170" lvl="1" indent="-609585">
              <a:buFont typeface="+mj-lt"/>
              <a:buAutoNum type="alphaLcParenR"/>
            </a:pPr>
            <a:r>
              <a:rPr lang="en-US" dirty="0" smtClean="0"/>
              <a:t>Carry save adder</a:t>
            </a:r>
          </a:p>
          <a:p>
            <a:pPr marL="1219170" lvl="1" indent="-609585">
              <a:buFont typeface="+mj-lt"/>
              <a:buAutoNum type="alphaLcParenR"/>
            </a:pPr>
            <a:r>
              <a:rPr lang="en-US" dirty="0" smtClean="0"/>
              <a:t>Carry select adder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692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Ripple Carry 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Cascade n full adders to create a </a:t>
            </a:r>
            <a:r>
              <a:rPr lang="en-US" sz="2400" dirty="0" smtClean="0">
                <a:solidFill>
                  <a:srgbClr val="800000"/>
                </a:solidFill>
              </a:rPr>
              <a:t>n</a:t>
            </a:r>
            <a:r>
              <a:rPr lang="en-US" sz="2400" dirty="0" smtClean="0"/>
              <a:t>-bit </a:t>
            </a:r>
            <a:r>
              <a:rPr lang="en-US" sz="2400" dirty="0" smtClean="0"/>
              <a:t>parallel adder.</a:t>
            </a:r>
          </a:p>
          <a:p>
            <a:r>
              <a:rPr lang="en-US" sz="2400" dirty="0" smtClean="0"/>
              <a:t>Carry output from stage-</a:t>
            </a:r>
            <a:r>
              <a:rPr lang="en-US" sz="2400" dirty="0" err="1" smtClean="0"/>
              <a:t>i</a:t>
            </a:r>
            <a:r>
              <a:rPr lang="en-US" sz="2400" dirty="0" smtClean="0"/>
              <a:t> propagates as the carry input to stage-(i+1).</a:t>
            </a:r>
          </a:p>
          <a:p>
            <a:r>
              <a:rPr lang="en-US" sz="2400" dirty="0" smtClean="0"/>
              <a:t>In the worst-case, carry ripples through all the stages.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481742" y="3674486"/>
            <a:ext cx="5080000" cy="1867177"/>
            <a:chOff x="685800" y="1276350"/>
            <a:chExt cx="3810000" cy="1400383"/>
          </a:xfrm>
        </p:grpSpPr>
        <p:sp>
          <p:nvSpPr>
            <p:cNvPr id="6" name="TextBox 5"/>
            <p:cNvSpPr txBox="1"/>
            <p:nvPr/>
          </p:nvSpPr>
          <p:spPr>
            <a:xfrm>
              <a:off x="685800" y="1276350"/>
              <a:ext cx="1905000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700" dirty="0">
                  <a:solidFill>
                    <a:srgbClr val="FF0000"/>
                  </a:solidFill>
                </a:rPr>
                <a:t>1 1 1 1 1 1 </a:t>
              </a:r>
              <a:r>
                <a:rPr lang="en-US" sz="2700" dirty="0"/>
                <a:t>0   </a:t>
              </a:r>
            </a:p>
            <a:p>
              <a:pPr algn="r"/>
              <a:r>
                <a:rPr lang="en-US" sz="2700" dirty="0"/>
                <a:t>0 1 1 1 1 1 1</a:t>
              </a:r>
            </a:p>
            <a:p>
              <a:pPr algn="r">
                <a:spcAft>
                  <a:spcPts val="800"/>
                </a:spcAft>
              </a:pPr>
              <a:r>
                <a:rPr lang="en-US" sz="2700" dirty="0"/>
                <a:t>+  0 0 0 0 0 0 1</a:t>
              </a:r>
            </a:p>
            <a:p>
              <a:pPr algn="r"/>
              <a:r>
                <a:rPr lang="en-US" sz="2700" dirty="0"/>
                <a:t> 1 0 0 0 0 0 0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914400" y="2266950"/>
              <a:ext cx="16764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124200" y="15811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Number A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24200" y="18859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Number B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24200" y="22669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Sum S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24200" y="127635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Carry</a:t>
              </a:r>
              <a:endParaRPr lang="en-US" dirty="0"/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>
              <a:off x="2514600" y="14148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1"/>
            </p:cNvCxnSpPr>
            <p:nvPr/>
          </p:nvCxnSpPr>
          <p:spPr>
            <a:xfrm flipH="1">
              <a:off x="2514600" y="17196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1"/>
            </p:cNvCxnSpPr>
            <p:nvPr/>
          </p:nvCxnSpPr>
          <p:spPr>
            <a:xfrm flipH="1">
              <a:off x="2514600" y="20244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0" idx="1"/>
            </p:cNvCxnSpPr>
            <p:nvPr/>
          </p:nvCxnSpPr>
          <p:spPr>
            <a:xfrm flipH="1">
              <a:off x="2514600" y="2405450"/>
              <a:ext cx="609600" cy="9010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468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12</a:t>
            </a:fld>
            <a:endParaRPr lang="en-US"/>
          </a:p>
        </p:txBody>
      </p:sp>
      <p:grpSp>
        <p:nvGrpSpPr>
          <p:cNvPr id="58" name="Group 57"/>
          <p:cNvGrpSpPr/>
          <p:nvPr/>
        </p:nvGrpSpPr>
        <p:grpSpPr>
          <a:xfrm>
            <a:off x="0" y="381000"/>
            <a:ext cx="9753600" cy="2518489"/>
            <a:chOff x="914400" y="1352550"/>
            <a:chExt cx="7315200" cy="1888867"/>
          </a:xfrm>
        </p:grpSpPr>
        <p:grpSp>
          <p:nvGrpSpPr>
            <p:cNvPr id="19" name="Group 18"/>
            <p:cNvGrpSpPr/>
            <p:nvPr/>
          </p:nvGrpSpPr>
          <p:grpSpPr>
            <a:xfrm>
              <a:off x="6858000" y="1352550"/>
              <a:ext cx="1371600" cy="1877199"/>
              <a:chOff x="5410200" y="1352550"/>
              <a:chExt cx="1371600" cy="1877199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5410200" y="2114550"/>
                <a:ext cx="838200" cy="533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rgbClr val="000090"/>
                    </a:solidFill>
                  </a:rPr>
                  <a:t>FA</a:t>
                </a:r>
                <a:r>
                  <a:rPr lang="en-US" baseline="-25000" dirty="0" smtClean="0">
                    <a:solidFill>
                      <a:srgbClr val="000090"/>
                    </a:solidFill>
                  </a:rPr>
                  <a:t>0</a:t>
                </a:r>
                <a:endParaRPr lang="en-US" baseline="-25000" dirty="0">
                  <a:solidFill>
                    <a:srgbClr val="000090"/>
                  </a:solidFill>
                </a:endParaRPr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>
                <a:off x="5638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6019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5867400" y="26479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>
                <a:endCxn id="5" idx="3"/>
              </p:cNvCxnSpPr>
              <p:nvPr/>
            </p:nvCxnSpPr>
            <p:spPr>
              <a:xfrm flipH="1">
                <a:off x="6248400" y="2343150"/>
                <a:ext cx="533400" cy="36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6324600" y="1973818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 smtClean="0"/>
                  <a:t>0</a:t>
                </a:r>
                <a:endParaRPr lang="en-US" baseline="-25000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715000" y="29527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 smtClean="0"/>
                  <a:t>0</a:t>
                </a:r>
                <a:endParaRPr lang="en-US" baseline="-25000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867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baseline="-25000" dirty="0" smtClean="0"/>
                  <a:t>0</a:t>
                </a:r>
                <a:endParaRPr lang="en-US" baseline="-25000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486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  <a:r>
                  <a:rPr lang="en-US" baseline="-25000" dirty="0" smtClean="0"/>
                  <a:t>0</a:t>
                </a:r>
                <a:endParaRPr lang="en-US" baseline="-25000" dirty="0"/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5486400" y="1352550"/>
              <a:ext cx="1371600" cy="1877199"/>
              <a:chOff x="5410200" y="1352550"/>
              <a:chExt cx="1371600" cy="1877199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5410200" y="2114550"/>
                <a:ext cx="838200" cy="533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rgbClr val="000090"/>
                    </a:solidFill>
                  </a:rPr>
                  <a:t>FA</a:t>
                </a:r>
                <a:r>
                  <a:rPr lang="en-US" baseline="-25000" dirty="0">
                    <a:solidFill>
                      <a:srgbClr val="000090"/>
                    </a:solidFill>
                  </a:rPr>
                  <a:t>1</a:t>
                </a:r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>
                <a:off x="5638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6019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5867400" y="26479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>
                <a:endCxn id="21" idx="3"/>
              </p:cNvCxnSpPr>
              <p:nvPr/>
            </p:nvCxnSpPr>
            <p:spPr>
              <a:xfrm flipH="1">
                <a:off x="6248400" y="2343150"/>
                <a:ext cx="533400" cy="36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6324600" y="1973818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715000" y="29527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867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B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486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  <a:r>
                  <a:rPr lang="en-US" baseline="-25000" dirty="0"/>
                  <a:t>1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114800" y="1352550"/>
              <a:ext cx="1371600" cy="1877199"/>
              <a:chOff x="5410200" y="1352550"/>
              <a:chExt cx="1371600" cy="1877199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5410200" y="2114550"/>
                <a:ext cx="838200" cy="533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rgbClr val="000090"/>
                    </a:solidFill>
                  </a:rPr>
                  <a:t>FA</a:t>
                </a:r>
                <a:r>
                  <a:rPr lang="en-US" baseline="-25000" dirty="0">
                    <a:solidFill>
                      <a:srgbClr val="000090"/>
                    </a:solidFill>
                  </a:rPr>
                  <a:t>2</a:t>
                </a:r>
              </a:p>
            </p:txBody>
          </p:sp>
          <p:cxnSp>
            <p:nvCxnSpPr>
              <p:cNvPr id="32" name="Straight Arrow Connector 31"/>
              <p:cNvCxnSpPr/>
              <p:nvPr/>
            </p:nvCxnSpPr>
            <p:spPr>
              <a:xfrm>
                <a:off x="5638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6019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>
                <a:off x="5867400" y="26479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>
                <a:endCxn id="31" idx="3"/>
              </p:cNvCxnSpPr>
              <p:nvPr/>
            </p:nvCxnSpPr>
            <p:spPr>
              <a:xfrm flipH="1">
                <a:off x="6248400" y="2343150"/>
                <a:ext cx="533400" cy="36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6324600" y="1973818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715000" y="29527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867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B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486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  <a:r>
                  <a:rPr lang="en-US" baseline="-25000" dirty="0"/>
                  <a:t>2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1447800" y="1352550"/>
              <a:ext cx="1447800" cy="1877199"/>
              <a:chOff x="5410200" y="1352550"/>
              <a:chExt cx="1447800" cy="1877199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5410200" y="2114550"/>
                <a:ext cx="838200" cy="533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rgbClr val="000090"/>
                    </a:solidFill>
                  </a:rPr>
                  <a:t>FA</a:t>
                </a:r>
                <a:r>
                  <a:rPr lang="en-US" baseline="-25000" dirty="0" smtClean="0">
                    <a:solidFill>
                      <a:srgbClr val="000090"/>
                    </a:solidFill>
                  </a:rPr>
                  <a:t>n-1</a:t>
                </a:r>
                <a:endParaRPr lang="en-US" baseline="-25000" dirty="0">
                  <a:solidFill>
                    <a:srgbClr val="000090"/>
                  </a:solidFill>
                </a:endParaRPr>
              </a:p>
            </p:txBody>
          </p:sp>
          <p:cxnSp>
            <p:nvCxnSpPr>
              <p:cNvPr id="42" name="Straight Arrow Connector 41"/>
              <p:cNvCxnSpPr/>
              <p:nvPr/>
            </p:nvCxnSpPr>
            <p:spPr>
              <a:xfrm>
                <a:off x="5638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6019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>
                <a:off x="5867400" y="26479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>
                <a:endCxn id="41" idx="3"/>
              </p:cNvCxnSpPr>
              <p:nvPr/>
            </p:nvCxnSpPr>
            <p:spPr>
              <a:xfrm flipH="1">
                <a:off x="6248400" y="2343150"/>
                <a:ext cx="533400" cy="36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6324600" y="1973818"/>
                <a:ext cx="53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</a:t>
                </a:r>
                <a:r>
                  <a:rPr lang="en-US" baseline="-25000" dirty="0" smtClean="0"/>
                  <a:t>n-1</a:t>
                </a:r>
                <a:endParaRPr lang="en-US" baseline="-25000" dirty="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5715000" y="2952750"/>
                <a:ext cx="53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r>
                  <a:rPr lang="en-US" baseline="-25000" dirty="0" smtClean="0"/>
                  <a:t>n-1</a:t>
                </a:r>
                <a:endParaRPr lang="en-US" baseline="-25000" dirty="0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867400" y="1352550"/>
                <a:ext cx="53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B</a:t>
                </a:r>
                <a:r>
                  <a:rPr lang="en-US" baseline="-25000" dirty="0" smtClean="0"/>
                  <a:t>n-1</a:t>
                </a:r>
                <a:endParaRPr lang="en-US" baseline="-25000" dirty="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5486400" y="1352550"/>
                <a:ext cx="53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  <a:r>
                  <a:rPr lang="en-US" baseline="-25000" dirty="0" smtClean="0"/>
                  <a:t>n-1</a:t>
                </a:r>
                <a:endParaRPr lang="en-US" baseline="-25000" dirty="0"/>
              </a:p>
            </p:txBody>
          </p:sp>
        </p:grpSp>
        <p:cxnSp>
          <p:nvCxnSpPr>
            <p:cNvPr id="50" name="Straight Arrow Connector 49"/>
            <p:cNvCxnSpPr/>
            <p:nvPr/>
          </p:nvCxnSpPr>
          <p:spPr>
            <a:xfrm flipH="1">
              <a:off x="3581400" y="2343150"/>
              <a:ext cx="533400" cy="36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3657600" y="1962150"/>
              <a:ext cx="457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r>
                <a:rPr lang="en-US" baseline="-25000" dirty="0" smtClean="0"/>
                <a:t>3</a:t>
              </a:r>
              <a:endParaRPr lang="en-US" baseline="-250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819400" y="188595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/>
                <a:t>……</a:t>
              </a:r>
            </a:p>
          </p:txBody>
        </p:sp>
        <p:cxnSp>
          <p:nvCxnSpPr>
            <p:cNvPr id="54" name="Straight Connector 53"/>
            <p:cNvCxnSpPr>
              <a:stCxn id="41" idx="1"/>
            </p:cNvCxnSpPr>
            <p:nvPr/>
          </p:nvCxnSpPr>
          <p:spPr>
            <a:xfrm flipH="1" flipV="1">
              <a:off x="1066800" y="2343150"/>
              <a:ext cx="381000" cy="36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1066800" y="2343150"/>
              <a:ext cx="0" cy="685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914400" y="2964418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C</a:t>
              </a:r>
              <a:r>
                <a:rPr lang="en-US" baseline="-25000" dirty="0" err="1" smtClean="0"/>
                <a:t>n</a:t>
              </a:r>
              <a:endParaRPr lang="en-US" baseline="-25000" dirty="0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211656" y="3429001"/>
            <a:ext cx="6189144" cy="1354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Two numbers: 	A</a:t>
            </a:r>
            <a:r>
              <a:rPr lang="en-US" sz="2000" baseline="-25000" dirty="0" smtClean="0">
                <a:solidFill>
                  <a:srgbClr val="000090"/>
                </a:solidFill>
              </a:rPr>
              <a:t>n-1</a:t>
            </a:r>
            <a:r>
              <a:rPr lang="en-US" sz="2000" dirty="0" smtClean="0">
                <a:solidFill>
                  <a:srgbClr val="000090"/>
                </a:solidFill>
              </a:rPr>
              <a:t>…A</a:t>
            </a:r>
            <a:r>
              <a:rPr lang="en-US" sz="2000" baseline="-25000" dirty="0" smtClean="0">
                <a:solidFill>
                  <a:srgbClr val="000090"/>
                </a:solidFill>
              </a:rPr>
              <a:t>2</a:t>
            </a:r>
            <a:r>
              <a:rPr lang="en-US" sz="2000" dirty="0" smtClean="0">
                <a:solidFill>
                  <a:srgbClr val="000090"/>
                </a:solidFill>
              </a:rPr>
              <a:t>A</a:t>
            </a:r>
            <a:r>
              <a:rPr lang="en-US" sz="2000" baseline="-25000" dirty="0" smtClean="0">
                <a:solidFill>
                  <a:srgbClr val="000090"/>
                </a:solidFill>
              </a:rPr>
              <a:t>1</a:t>
            </a:r>
            <a:r>
              <a:rPr lang="en-US" sz="2000" dirty="0" smtClean="0">
                <a:solidFill>
                  <a:srgbClr val="000090"/>
                </a:solidFill>
              </a:rPr>
              <a:t>A</a:t>
            </a:r>
            <a:r>
              <a:rPr lang="en-US" sz="2000" baseline="-25000" dirty="0" smtClean="0">
                <a:solidFill>
                  <a:srgbClr val="000090"/>
                </a:solidFill>
              </a:rPr>
              <a:t>0</a:t>
            </a:r>
            <a:r>
              <a:rPr lang="en-US" sz="2000" dirty="0" smtClean="0">
                <a:solidFill>
                  <a:srgbClr val="000090"/>
                </a:solidFill>
              </a:rPr>
              <a:t> and B</a:t>
            </a:r>
            <a:r>
              <a:rPr lang="en-US" sz="2000" baseline="-25000" dirty="0" smtClean="0">
                <a:solidFill>
                  <a:srgbClr val="000090"/>
                </a:solidFill>
              </a:rPr>
              <a:t>n-1</a:t>
            </a:r>
            <a:r>
              <a:rPr lang="en-US" sz="2000" dirty="0" smtClean="0">
                <a:solidFill>
                  <a:srgbClr val="000090"/>
                </a:solidFill>
              </a:rPr>
              <a:t>…B</a:t>
            </a:r>
            <a:r>
              <a:rPr lang="en-US" sz="2000" baseline="-25000" dirty="0" smtClean="0">
                <a:solidFill>
                  <a:srgbClr val="000090"/>
                </a:solidFill>
              </a:rPr>
              <a:t>2</a:t>
            </a:r>
            <a:r>
              <a:rPr lang="en-US" sz="2000" dirty="0" smtClean="0">
                <a:solidFill>
                  <a:srgbClr val="000090"/>
                </a:solidFill>
              </a:rPr>
              <a:t>B</a:t>
            </a:r>
            <a:r>
              <a:rPr lang="en-US" sz="2000" baseline="-25000" dirty="0" smtClean="0">
                <a:solidFill>
                  <a:srgbClr val="000090"/>
                </a:solidFill>
              </a:rPr>
              <a:t>1</a:t>
            </a:r>
            <a:r>
              <a:rPr lang="en-US" sz="2000" dirty="0" smtClean="0">
                <a:solidFill>
                  <a:srgbClr val="000090"/>
                </a:solidFill>
              </a:rPr>
              <a:t>B</a:t>
            </a:r>
            <a:r>
              <a:rPr lang="en-US" sz="2000" baseline="-25000" dirty="0" smtClean="0">
                <a:solidFill>
                  <a:srgbClr val="000090"/>
                </a:solidFill>
              </a:rPr>
              <a:t>0</a:t>
            </a:r>
            <a:endParaRPr lang="en-US" sz="2000" dirty="0" smtClean="0">
              <a:solidFill>
                <a:srgbClr val="000090"/>
              </a:solidFill>
            </a:endParaRPr>
          </a:p>
          <a:p>
            <a:r>
              <a:rPr lang="en-US" sz="2000" dirty="0" smtClean="0">
                <a:solidFill>
                  <a:srgbClr val="000090"/>
                </a:solidFill>
              </a:rPr>
              <a:t>Input carry:	C</a:t>
            </a:r>
            <a:r>
              <a:rPr lang="en-US" sz="2000" baseline="-25000" dirty="0" smtClean="0">
                <a:solidFill>
                  <a:srgbClr val="000090"/>
                </a:solidFill>
              </a:rPr>
              <a:t>0</a:t>
            </a:r>
          </a:p>
          <a:p>
            <a:r>
              <a:rPr lang="en-US" sz="2000" dirty="0" smtClean="0">
                <a:solidFill>
                  <a:srgbClr val="000090"/>
                </a:solidFill>
              </a:rPr>
              <a:t>Sum:		S</a:t>
            </a:r>
            <a:r>
              <a:rPr lang="en-US" sz="2000" baseline="-25000" dirty="0" smtClean="0">
                <a:solidFill>
                  <a:srgbClr val="000090"/>
                </a:solidFill>
              </a:rPr>
              <a:t>n</a:t>
            </a:r>
            <a:r>
              <a:rPr lang="en-US" sz="2000" baseline="-25000" dirty="0">
                <a:solidFill>
                  <a:srgbClr val="000090"/>
                </a:solidFill>
              </a:rPr>
              <a:t>-1</a:t>
            </a:r>
            <a:r>
              <a:rPr lang="en-US" sz="2000" dirty="0" smtClean="0">
                <a:solidFill>
                  <a:srgbClr val="000090"/>
                </a:solidFill>
              </a:rPr>
              <a:t>…S</a:t>
            </a:r>
            <a:r>
              <a:rPr lang="en-US" sz="2000" baseline="-25000" dirty="0" smtClean="0">
                <a:solidFill>
                  <a:srgbClr val="000090"/>
                </a:solidFill>
              </a:rPr>
              <a:t>2</a:t>
            </a:r>
            <a:r>
              <a:rPr lang="en-US" sz="2000" dirty="0" smtClean="0">
                <a:solidFill>
                  <a:srgbClr val="000090"/>
                </a:solidFill>
              </a:rPr>
              <a:t>S</a:t>
            </a:r>
            <a:r>
              <a:rPr lang="en-US" sz="2000" baseline="-25000" dirty="0" smtClean="0">
                <a:solidFill>
                  <a:srgbClr val="000090"/>
                </a:solidFill>
              </a:rPr>
              <a:t>1</a:t>
            </a:r>
            <a:r>
              <a:rPr lang="en-US" sz="2000" dirty="0">
                <a:solidFill>
                  <a:srgbClr val="000090"/>
                </a:solidFill>
              </a:rPr>
              <a:t>S</a:t>
            </a:r>
            <a:r>
              <a:rPr lang="en-US" sz="2000" baseline="-25000" dirty="0" smtClean="0">
                <a:solidFill>
                  <a:srgbClr val="000090"/>
                </a:solidFill>
              </a:rPr>
              <a:t>0</a:t>
            </a:r>
            <a:r>
              <a:rPr lang="en-US" sz="2000" dirty="0" smtClean="0">
                <a:solidFill>
                  <a:srgbClr val="000090"/>
                </a:solidFill>
              </a:rPr>
              <a:t> </a:t>
            </a:r>
          </a:p>
          <a:p>
            <a:r>
              <a:rPr lang="en-US" sz="2000" dirty="0" smtClean="0">
                <a:solidFill>
                  <a:srgbClr val="000090"/>
                </a:solidFill>
              </a:rPr>
              <a:t>Output carry:	</a:t>
            </a:r>
            <a:r>
              <a:rPr lang="en-US" sz="2000" dirty="0" err="1" smtClean="0">
                <a:solidFill>
                  <a:srgbClr val="000090"/>
                </a:solidFill>
              </a:rPr>
              <a:t>C</a:t>
            </a:r>
            <a:r>
              <a:rPr lang="en-US" sz="2000" baseline="-25000" dirty="0" err="1" smtClean="0">
                <a:solidFill>
                  <a:srgbClr val="000090"/>
                </a:solidFill>
              </a:rPr>
              <a:t>n</a:t>
            </a:r>
            <a:r>
              <a:rPr lang="en-US" sz="2000" dirty="0" smtClean="0">
                <a:solidFill>
                  <a:srgbClr val="000090"/>
                </a:solidFill>
              </a:rPr>
              <a:t>	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13652" y="2209801"/>
            <a:ext cx="2976748" cy="1354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Delay for C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    = 2δ</a:t>
            </a:r>
          </a:p>
          <a:p>
            <a:r>
              <a:rPr lang="en-US" sz="2000" dirty="0" smtClean="0"/>
              <a:t>Delay for C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    = 4δ</a:t>
            </a:r>
          </a:p>
          <a:p>
            <a:r>
              <a:rPr lang="en-US" sz="2000" dirty="0" smtClean="0"/>
              <a:t>Delay for C</a:t>
            </a:r>
            <a:r>
              <a:rPr lang="en-US" sz="2000" baseline="-25000" dirty="0" smtClean="0"/>
              <a:t>n-1    </a:t>
            </a:r>
            <a:r>
              <a:rPr lang="en-US" sz="2000" dirty="0" smtClean="0"/>
              <a:t>= 2(n-1)</a:t>
            </a:r>
            <a:r>
              <a:rPr lang="en-US" sz="2000" dirty="0" err="1" smtClean="0"/>
              <a:t>δ</a:t>
            </a:r>
            <a:endParaRPr lang="en-US" sz="2000" dirty="0" smtClean="0"/>
          </a:p>
          <a:p>
            <a:r>
              <a:rPr lang="en-US" sz="2000" dirty="0" smtClean="0"/>
              <a:t>Delay for 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n</a:t>
            </a:r>
            <a:r>
              <a:rPr lang="en-US" sz="2000" dirty="0"/>
              <a:t> </a:t>
            </a:r>
            <a:r>
              <a:rPr lang="en-US" sz="2000" dirty="0" smtClean="0"/>
              <a:t>    = 2n</a:t>
            </a:r>
            <a:r>
              <a:rPr lang="en-US" sz="2000" dirty="0"/>
              <a:t>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7955" y="3962162"/>
            <a:ext cx="4494575" cy="1354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Delay for S</a:t>
            </a:r>
            <a:r>
              <a:rPr lang="en-US" sz="2000" baseline="-25000" dirty="0" smtClean="0"/>
              <a:t>0</a:t>
            </a:r>
            <a:r>
              <a:rPr lang="en-US" sz="2000" dirty="0" smtClean="0"/>
              <a:t>     = 3δ</a:t>
            </a:r>
          </a:p>
          <a:p>
            <a:r>
              <a:rPr lang="en-US" sz="2000" dirty="0" smtClean="0"/>
              <a:t>Delay for 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    = 2δ + 3δ = 5</a:t>
            </a:r>
            <a:r>
              <a:rPr lang="en-US" sz="2000" dirty="0"/>
              <a:t>δ</a:t>
            </a:r>
            <a:endParaRPr lang="en-US" sz="2000" dirty="0" smtClean="0"/>
          </a:p>
          <a:p>
            <a:r>
              <a:rPr lang="en-US" sz="2000" dirty="0" smtClean="0"/>
              <a:t>Delay for 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    = 4δ + 3δ = 7</a:t>
            </a:r>
            <a:r>
              <a:rPr lang="en-US" sz="2000" dirty="0"/>
              <a:t>δ</a:t>
            </a:r>
            <a:endParaRPr lang="en-US" sz="2000" dirty="0" smtClean="0"/>
          </a:p>
          <a:p>
            <a:r>
              <a:rPr lang="en-US" sz="2000" dirty="0" smtClean="0"/>
              <a:t>Delay for S</a:t>
            </a:r>
            <a:r>
              <a:rPr lang="en-US" sz="2000" baseline="-25000" dirty="0" smtClean="0"/>
              <a:t>n-1    </a:t>
            </a:r>
            <a:r>
              <a:rPr lang="en-US" sz="2000" dirty="0" smtClean="0"/>
              <a:t>= 2(n-1)</a:t>
            </a:r>
            <a:r>
              <a:rPr lang="en-US" sz="2000" dirty="0" err="1" smtClean="0"/>
              <a:t>δ</a:t>
            </a:r>
            <a:r>
              <a:rPr lang="en-US" sz="2000" dirty="0" smtClean="0"/>
              <a:t> + 3δ = (2n+1)</a:t>
            </a:r>
            <a:r>
              <a:rPr lang="en-US" sz="2000" dirty="0"/>
              <a:t> </a:t>
            </a:r>
            <a:r>
              <a:rPr lang="en-US" sz="2000" dirty="0" err="1"/>
              <a:t>δ</a:t>
            </a:r>
            <a:endParaRPr lang="en-US" sz="2000" dirty="0"/>
          </a:p>
        </p:txBody>
      </p:sp>
      <p:sp>
        <p:nvSpPr>
          <p:cNvPr id="63" name="TextBox 62"/>
          <p:cNvSpPr txBox="1"/>
          <p:nvPr/>
        </p:nvSpPr>
        <p:spPr>
          <a:xfrm>
            <a:off x="609600" y="5257800"/>
            <a:ext cx="4673600" cy="492438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800000"/>
                </a:solidFill>
              </a:rPr>
              <a:t>Delay is proportional to n</a:t>
            </a:r>
            <a:endParaRPr lang="en-US" sz="2400" b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097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  <p:bldP spid="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Design a Parallel Subtractor?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1"/>
            <a:ext cx="10972800" cy="4470400"/>
          </a:xfrm>
        </p:spPr>
        <p:txBody>
          <a:bodyPr/>
          <a:lstStyle/>
          <a:p>
            <a:r>
              <a:rPr lang="en-US" b="1" dirty="0">
                <a:solidFill>
                  <a:srgbClr val="800000"/>
                </a:solidFill>
              </a:rPr>
              <a:t>Observation:</a:t>
            </a:r>
          </a:p>
          <a:p>
            <a:pPr lvl="1"/>
            <a:r>
              <a:rPr lang="en-US" dirty="0"/>
              <a:t>Computing A-B is the same as adding the 2’s complement of B to A.</a:t>
            </a:r>
          </a:p>
          <a:p>
            <a:pPr lvl="1"/>
            <a:r>
              <a:rPr lang="en-US" dirty="0"/>
              <a:t>2’s complement is equal to 1’s complement plus 1.</a:t>
            </a:r>
          </a:p>
          <a:p>
            <a:pPr lvl="1"/>
            <a:r>
              <a:rPr lang="en-US" dirty="0"/>
              <a:t>Let X</a:t>
            </a:r>
            <a:r>
              <a:rPr lang="en-US" baseline="-25000" dirty="0"/>
              <a:t>i</a:t>
            </a:r>
            <a:r>
              <a:rPr lang="en-US" dirty="0"/>
              <a:t> = B</a:t>
            </a:r>
            <a:r>
              <a:rPr lang="en-US" baseline="-25000" dirty="0"/>
              <a:t>i</a:t>
            </a:r>
            <a:r>
              <a:rPr lang="en-US" dirty="0"/>
              <a:t>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117600" y="3447952"/>
            <a:ext cx="10160000" cy="2518489"/>
            <a:chOff x="914400" y="1352550"/>
            <a:chExt cx="7620000" cy="1888867"/>
          </a:xfrm>
        </p:grpSpPr>
        <p:grpSp>
          <p:nvGrpSpPr>
            <p:cNvPr id="6" name="Group 5"/>
            <p:cNvGrpSpPr/>
            <p:nvPr/>
          </p:nvGrpSpPr>
          <p:grpSpPr>
            <a:xfrm>
              <a:off x="6858000" y="1352550"/>
              <a:ext cx="1676400" cy="1877199"/>
              <a:chOff x="5410200" y="1352550"/>
              <a:chExt cx="1676400" cy="1877199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5410200" y="2114550"/>
                <a:ext cx="838200" cy="533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rgbClr val="000090"/>
                    </a:solidFill>
                  </a:rPr>
                  <a:t>FA</a:t>
                </a:r>
                <a:r>
                  <a:rPr lang="en-US" baseline="-25000" dirty="0" smtClean="0">
                    <a:solidFill>
                      <a:srgbClr val="000090"/>
                    </a:solidFill>
                  </a:rPr>
                  <a:t>0</a:t>
                </a:r>
                <a:endParaRPr lang="en-US" baseline="-25000" dirty="0">
                  <a:solidFill>
                    <a:srgbClr val="000090"/>
                  </a:solidFill>
                </a:endParaRPr>
              </a:p>
            </p:txBody>
          </p:sp>
          <p:cxnSp>
            <p:nvCxnSpPr>
              <p:cNvPr id="44" name="Straight Arrow Connector 43"/>
              <p:cNvCxnSpPr/>
              <p:nvPr/>
            </p:nvCxnSpPr>
            <p:spPr>
              <a:xfrm>
                <a:off x="5638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6019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>
                <a:off x="5867400" y="26479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>
                <a:endCxn id="43" idx="3"/>
              </p:cNvCxnSpPr>
              <p:nvPr/>
            </p:nvCxnSpPr>
            <p:spPr>
              <a:xfrm flipH="1">
                <a:off x="6248400" y="2343150"/>
                <a:ext cx="533400" cy="36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6324600" y="1973818"/>
                <a:ext cx="762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C</a:t>
                </a:r>
                <a:r>
                  <a:rPr lang="en-US" baseline="-25000" dirty="0" smtClean="0">
                    <a:solidFill>
                      <a:srgbClr val="FF0000"/>
                    </a:solidFill>
                  </a:rPr>
                  <a:t>0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= 1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5715000" y="29527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 smtClean="0"/>
                  <a:t>0</a:t>
                </a:r>
                <a:endParaRPr lang="en-US" baseline="-25000" dirty="0"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5867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 smtClean="0">
                    <a:solidFill>
                      <a:srgbClr val="FF0000"/>
                    </a:solidFill>
                  </a:rPr>
                  <a:t>0</a:t>
                </a:r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5486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  <a:r>
                  <a:rPr lang="en-US" baseline="-25000" dirty="0" smtClean="0"/>
                  <a:t>0</a:t>
                </a:r>
                <a:endParaRPr lang="en-US" baseline="-25000" dirty="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5486400" y="1352550"/>
              <a:ext cx="1371600" cy="1877199"/>
              <a:chOff x="5410200" y="1352550"/>
              <a:chExt cx="1371600" cy="1877199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5410200" y="2114550"/>
                <a:ext cx="838200" cy="533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rgbClr val="000090"/>
                    </a:solidFill>
                  </a:rPr>
                  <a:t>FA</a:t>
                </a:r>
                <a:r>
                  <a:rPr lang="en-US" baseline="-25000" dirty="0">
                    <a:solidFill>
                      <a:srgbClr val="000090"/>
                    </a:solidFill>
                  </a:rPr>
                  <a:t>1</a:t>
                </a:r>
              </a:p>
            </p:txBody>
          </p:sp>
          <p:cxnSp>
            <p:nvCxnSpPr>
              <p:cNvPr id="35" name="Straight Arrow Connector 34"/>
              <p:cNvCxnSpPr/>
              <p:nvPr/>
            </p:nvCxnSpPr>
            <p:spPr>
              <a:xfrm>
                <a:off x="5638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>
                <a:off x="6019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5867400" y="26479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endCxn id="34" idx="3"/>
              </p:cNvCxnSpPr>
              <p:nvPr/>
            </p:nvCxnSpPr>
            <p:spPr>
              <a:xfrm flipH="1">
                <a:off x="6248400" y="2343150"/>
                <a:ext cx="533400" cy="36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6324600" y="1973818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715000" y="29527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5867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 smtClean="0">
                    <a:solidFill>
                      <a:srgbClr val="FF0000"/>
                    </a:solidFill>
                  </a:rPr>
                  <a:t>1</a:t>
                </a:r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486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  <a:r>
                  <a:rPr lang="en-US" baseline="-25000" dirty="0"/>
                  <a:t>1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4114800" y="1352550"/>
              <a:ext cx="1371600" cy="1877199"/>
              <a:chOff x="5410200" y="1352550"/>
              <a:chExt cx="1371600" cy="1877199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410200" y="2114550"/>
                <a:ext cx="838200" cy="533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rgbClr val="000090"/>
                    </a:solidFill>
                  </a:rPr>
                  <a:t>FA</a:t>
                </a:r>
                <a:r>
                  <a:rPr lang="en-US" baseline="-25000" dirty="0">
                    <a:solidFill>
                      <a:srgbClr val="000090"/>
                    </a:solidFill>
                  </a:rPr>
                  <a:t>2</a:t>
                </a: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>
                <a:off x="5638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6019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5867400" y="26479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endCxn id="25" idx="3"/>
              </p:cNvCxnSpPr>
              <p:nvPr/>
            </p:nvCxnSpPr>
            <p:spPr>
              <a:xfrm flipH="1">
                <a:off x="6248400" y="2343150"/>
                <a:ext cx="533400" cy="36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6324600" y="1973818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715000" y="29527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867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 smtClean="0">
                    <a:solidFill>
                      <a:srgbClr val="FF0000"/>
                    </a:solidFill>
                  </a:rPr>
                  <a:t>2</a:t>
                </a:r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486400" y="135255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  <a:r>
                  <a:rPr lang="en-US" baseline="-25000" dirty="0"/>
                  <a:t>2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1447800" y="1352550"/>
              <a:ext cx="1447800" cy="1877199"/>
              <a:chOff x="5410200" y="1352550"/>
              <a:chExt cx="1447800" cy="1877199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5410200" y="2114550"/>
                <a:ext cx="838200" cy="533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rgbClr val="000090"/>
                    </a:solidFill>
                  </a:rPr>
                  <a:t>FA</a:t>
                </a:r>
                <a:r>
                  <a:rPr lang="en-US" baseline="-25000" dirty="0" smtClean="0">
                    <a:solidFill>
                      <a:srgbClr val="000090"/>
                    </a:solidFill>
                  </a:rPr>
                  <a:t>n-1</a:t>
                </a:r>
                <a:endParaRPr lang="en-US" baseline="-25000" dirty="0">
                  <a:solidFill>
                    <a:srgbClr val="000090"/>
                  </a:solidFill>
                </a:endParaRPr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5638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6019800" y="17335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>
                <a:off x="5867400" y="2647950"/>
                <a:ext cx="0" cy="3810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endCxn id="16" idx="3"/>
              </p:cNvCxnSpPr>
              <p:nvPr/>
            </p:nvCxnSpPr>
            <p:spPr>
              <a:xfrm flipH="1">
                <a:off x="6248400" y="2343150"/>
                <a:ext cx="533400" cy="360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6324600" y="1973818"/>
                <a:ext cx="53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</a:t>
                </a:r>
                <a:r>
                  <a:rPr lang="en-US" baseline="-25000" dirty="0" smtClean="0"/>
                  <a:t>n-1</a:t>
                </a:r>
                <a:endParaRPr lang="en-US" baseline="-25000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715000" y="2952750"/>
                <a:ext cx="53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</a:t>
                </a:r>
                <a:r>
                  <a:rPr lang="en-US" baseline="-25000" dirty="0" smtClean="0"/>
                  <a:t>n-1</a:t>
                </a:r>
                <a:endParaRPr lang="en-US" baseline="-250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67400" y="1352550"/>
                <a:ext cx="53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 smtClean="0">
                    <a:solidFill>
                      <a:srgbClr val="FF0000"/>
                    </a:solidFill>
                  </a:rPr>
                  <a:t>n-1</a:t>
                </a:r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486400" y="1352550"/>
                <a:ext cx="53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  <a:r>
                  <a:rPr lang="en-US" baseline="-25000" dirty="0" smtClean="0"/>
                  <a:t>n-1</a:t>
                </a:r>
                <a:endParaRPr lang="en-US" baseline="-25000" dirty="0"/>
              </a:p>
            </p:txBody>
          </p:sp>
        </p:grpSp>
        <p:cxnSp>
          <p:nvCxnSpPr>
            <p:cNvPr id="10" name="Straight Arrow Connector 9"/>
            <p:cNvCxnSpPr/>
            <p:nvPr/>
          </p:nvCxnSpPr>
          <p:spPr>
            <a:xfrm flipH="1">
              <a:off x="3581400" y="2343150"/>
              <a:ext cx="533400" cy="36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657600" y="1962150"/>
              <a:ext cx="457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r>
                <a:rPr lang="en-US" baseline="-25000" dirty="0" smtClean="0"/>
                <a:t>3</a:t>
              </a:r>
              <a:endParaRPr lang="en-US" baseline="-25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19400" y="188595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/>
                <a:t>……</a:t>
              </a:r>
            </a:p>
          </p:txBody>
        </p:sp>
        <p:cxnSp>
          <p:nvCxnSpPr>
            <p:cNvPr id="13" name="Straight Connector 12"/>
            <p:cNvCxnSpPr>
              <a:stCxn id="16" idx="1"/>
            </p:cNvCxnSpPr>
            <p:nvPr/>
          </p:nvCxnSpPr>
          <p:spPr>
            <a:xfrm flipH="1" flipV="1">
              <a:off x="1066800" y="2343150"/>
              <a:ext cx="381000" cy="36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1066800" y="2343150"/>
              <a:ext cx="0" cy="685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914400" y="2964418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C</a:t>
              </a:r>
              <a:r>
                <a:rPr lang="en-US" baseline="-25000" dirty="0" err="1" smtClean="0"/>
                <a:t>n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486963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Parallel Adder/</a:t>
            </a:r>
            <a:r>
              <a:rPr lang="en-US" dirty="0" err="1" smtClean="0"/>
              <a:t>Subtractor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25600" y="3124200"/>
            <a:ext cx="8331200" cy="18288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2800" b="1" dirty="0">
                <a:solidFill>
                  <a:srgbClr val="000090"/>
                </a:solidFill>
              </a:rPr>
              <a:t>n-bit Parallel Adder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165600" y="1905000"/>
            <a:ext cx="0" cy="12192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62400" y="13970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A</a:t>
            </a:r>
            <a:r>
              <a:rPr lang="en-US" sz="2000" baseline="-25000" dirty="0" smtClean="0"/>
              <a:t>0</a:t>
            </a:r>
            <a:endParaRPr lang="en-US" sz="2000" baseline="-25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759200" y="1905000"/>
            <a:ext cx="0" cy="12192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0" y="13970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A</a:t>
            </a:r>
            <a:r>
              <a:rPr lang="en-US" sz="2000" baseline="-25000" dirty="0"/>
              <a:t>1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743200" y="1905000"/>
            <a:ext cx="0" cy="12192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38400" y="1397000"/>
            <a:ext cx="8128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A</a:t>
            </a:r>
            <a:r>
              <a:rPr lang="en-US" sz="2000" baseline="-25000" dirty="0" smtClean="0"/>
              <a:t>n-1</a:t>
            </a:r>
            <a:endParaRPr lang="en-US" sz="2000" baseline="-250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8128000" y="1397000"/>
            <a:ext cx="812800" cy="1727200"/>
            <a:chOff x="4648200" y="1047750"/>
            <a:chExt cx="609600" cy="1295400"/>
          </a:xfrm>
        </p:grpSpPr>
        <p:sp>
          <p:nvSpPr>
            <p:cNvPr id="13" name="Rectangle 12"/>
            <p:cNvSpPr/>
            <p:nvPr/>
          </p:nvSpPr>
          <p:spPr>
            <a:xfrm>
              <a:off x="4724400" y="1733550"/>
              <a:ext cx="533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sz="2000" dirty="0" err="1" smtClean="0">
                  <a:solidFill>
                    <a:srgbClr val="000090"/>
                  </a:solidFill>
                </a:rPr>
                <a:t>xor</a:t>
              </a:r>
              <a:endParaRPr lang="en-US" sz="2000" dirty="0">
                <a:solidFill>
                  <a:srgbClr val="000090"/>
                </a:solidFill>
              </a:endParaRPr>
            </a:p>
          </p:txBody>
        </p:sp>
        <p:cxnSp>
          <p:nvCxnSpPr>
            <p:cNvPr id="15" name="Straight Arrow Connector 14"/>
            <p:cNvCxnSpPr>
              <a:stCxn id="13" idx="2"/>
            </p:cNvCxnSpPr>
            <p:nvPr/>
          </p:nvCxnSpPr>
          <p:spPr>
            <a:xfrm>
              <a:off x="4991100" y="2038350"/>
              <a:ext cx="360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4873200" y="1428750"/>
              <a:ext cx="360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648200" y="10477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B</a:t>
              </a:r>
              <a:r>
                <a:rPr lang="en-US" sz="2000" baseline="-25000" dirty="0" smtClean="0"/>
                <a:t>0</a:t>
              </a:r>
              <a:endParaRPr lang="en-US" sz="2000" baseline="-250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5105400" y="1581150"/>
              <a:ext cx="0" cy="1524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7213600" y="1397000"/>
            <a:ext cx="812800" cy="1727200"/>
            <a:chOff x="4648200" y="1047750"/>
            <a:chExt cx="609600" cy="1295400"/>
          </a:xfrm>
        </p:grpSpPr>
        <p:sp>
          <p:nvSpPr>
            <p:cNvPr id="25" name="Rectangle 24"/>
            <p:cNvSpPr/>
            <p:nvPr/>
          </p:nvSpPr>
          <p:spPr>
            <a:xfrm>
              <a:off x="4724400" y="1733550"/>
              <a:ext cx="533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sz="2000" dirty="0" err="1" smtClean="0">
                  <a:solidFill>
                    <a:srgbClr val="000090"/>
                  </a:solidFill>
                </a:rPr>
                <a:t>xor</a:t>
              </a:r>
              <a:endParaRPr lang="en-US" sz="2000" dirty="0">
                <a:solidFill>
                  <a:srgbClr val="000090"/>
                </a:solidFill>
              </a:endParaRPr>
            </a:p>
          </p:txBody>
        </p:sp>
        <p:cxnSp>
          <p:nvCxnSpPr>
            <p:cNvPr id="26" name="Straight Arrow Connector 25"/>
            <p:cNvCxnSpPr>
              <a:stCxn id="25" idx="2"/>
            </p:cNvCxnSpPr>
            <p:nvPr/>
          </p:nvCxnSpPr>
          <p:spPr>
            <a:xfrm>
              <a:off x="4991100" y="2038350"/>
              <a:ext cx="360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4873200" y="1428750"/>
              <a:ext cx="360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648200" y="10477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B</a:t>
              </a:r>
              <a:r>
                <a:rPr lang="en-US" sz="2000" baseline="-25000" dirty="0"/>
                <a:t>1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5105400" y="1581150"/>
              <a:ext cx="0" cy="1524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5588000" y="1397000"/>
            <a:ext cx="812800" cy="1727200"/>
            <a:chOff x="4648200" y="1047750"/>
            <a:chExt cx="609600" cy="1295400"/>
          </a:xfrm>
        </p:grpSpPr>
        <p:sp>
          <p:nvSpPr>
            <p:cNvPr id="31" name="Rectangle 30"/>
            <p:cNvSpPr/>
            <p:nvPr/>
          </p:nvSpPr>
          <p:spPr>
            <a:xfrm>
              <a:off x="4724400" y="1733550"/>
              <a:ext cx="533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sz="2000" dirty="0" err="1" smtClean="0">
                  <a:solidFill>
                    <a:srgbClr val="000090"/>
                  </a:solidFill>
                </a:rPr>
                <a:t>xor</a:t>
              </a:r>
              <a:endParaRPr lang="en-US" sz="2000" dirty="0">
                <a:solidFill>
                  <a:srgbClr val="000090"/>
                </a:solidFill>
              </a:endParaRPr>
            </a:p>
          </p:txBody>
        </p:sp>
        <p:cxnSp>
          <p:nvCxnSpPr>
            <p:cNvPr id="32" name="Straight Arrow Connector 31"/>
            <p:cNvCxnSpPr>
              <a:stCxn id="31" idx="2"/>
            </p:cNvCxnSpPr>
            <p:nvPr/>
          </p:nvCxnSpPr>
          <p:spPr>
            <a:xfrm>
              <a:off x="4991100" y="2038350"/>
              <a:ext cx="360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873200" y="1428750"/>
              <a:ext cx="360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648200" y="1047750"/>
              <a:ext cx="6096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B</a:t>
              </a:r>
              <a:r>
                <a:rPr lang="en-US" sz="2000" baseline="-25000" dirty="0" smtClean="0"/>
                <a:t>n-1</a:t>
              </a:r>
              <a:endParaRPr lang="en-US" sz="2000" baseline="-25000" dirty="0"/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5105400" y="1581150"/>
              <a:ext cx="0" cy="1524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>
            <a:off x="6197600" y="2108200"/>
            <a:ext cx="4572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0464800" y="2108200"/>
            <a:ext cx="0" cy="19304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5" idx="3"/>
          </p:cNvCxnSpPr>
          <p:nvPr/>
        </p:nvCxnSpPr>
        <p:spPr>
          <a:xfrm flipH="1">
            <a:off x="9956800" y="4038600"/>
            <a:ext cx="50800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160000" y="39525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C</a:t>
            </a:r>
            <a:r>
              <a:rPr lang="en-US" sz="2000" baseline="-25000" dirty="0" smtClean="0"/>
              <a:t>0</a:t>
            </a:r>
            <a:endParaRPr lang="en-US" sz="2000" baseline="-25000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7213600" y="4953000"/>
            <a:ext cx="0" cy="406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6705600" y="4953000"/>
            <a:ext cx="0" cy="406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096000" y="4953000"/>
            <a:ext cx="0" cy="406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4470400" y="4953000"/>
            <a:ext cx="0" cy="406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5" idx="1"/>
          </p:cNvCxnSpPr>
          <p:nvPr/>
        </p:nvCxnSpPr>
        <p:spPr>
          <a:xfrm flipH="1">
            <a:off x="1016000" y="4038600"/>
            <a:ext cx="60960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09600" y="3733800"/>
            <a:ext cx="7112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err="1" smtClean="0"/>
              <a:t>C</a:t>
            </a:r>
            <a:r>
              <a:rPr lang="en-US" sz="2000" baseline="-25000" dirty="0" err="1" smtClean="0"/>
              <a:t>n</a:t>
            </a:r>
            <a:endParaRPr lang="en-US" sz="2000" baseline="-25000" dirty="0"/>
          </a:p>
        </p:txBody>
      </p:sp>
      <p:sp>
        <p:nvSpPr>
          <p:cNvPr id="52" name="TextBox 51"/>
          <p:cNvSpPr txBox="1"/>
          <p:nvPr/>
        </p:nvSpPr>
        <p:spPr>
          <a:xfrm>
            <a:off x="7010400" y="52733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baseline="-25000" dirty="0" smtClean="0"/>
              <a:t>0</a:t>
            </a:r>
            <a:endParaRPr lang="en-US" sz="2000" baseline="-25000" dirty="0"/>
          </a:p>
        </p:txBody>
      </p:sp>
      <p:sp>
        <p:nvSpPr>
          <p:cNvPr id="53" name="TextBox 52"/>
          <p:cNvSpPr txBox="1"/>
          <p:nvPr/>
        </p:nvSpPr>
        <p:spPr>
          <a:xfrm>
            <a:off x="6502400" y="52733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baseline="-25000" dirty="0" smtClean="0"/>
              <a:t>1</a:t>
            </a:r>
            <a:endParaRPr lang="en-US" sz="2000" baseline="-25000" dirty="0"/>
          </a:p>
        </p:txBody>
      </p:sp>
      <p:sp>
        <p:nvSpPr>
          <p:cNvPr id="54" name="TextBox 53"/>
          <p:cNvSpPr txBox="1"/>
          <p:nvPr/>
        </p:nvSpPr>
        <p:spPr>
          <a:xfrm>
            <a:off x="4165600" y="5273357"/>
            <a:ext cx="8128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baseline="-25000" dirty="0" smtClean="0"/>
              <a:t>n-1</a:t>
            </a:r>
            <a:endParaRPr lang="en-US" sz="2000" baseline="-25000" dirty="0"/>
          </a:p>
        </p:txBody>
      </p:sp>
      <p:sp>
        <p:nvSpPr>
          <p:cNvPr id="55" name="TextBox 54"/>
          <p:cNvSpPr txBox="1"/>
          <p:nvPr/>
        </p:nvSpPr>
        <p:spPr>
          <a:xfrm>
            <a:off x="5892800" y="5257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S</a:t>
            </a:r>
            <a:r>
              <a:rPr lang="en-US" sz="2000" baseline="-25000" dirty="0"/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78400" y="4749800"/>
            <a:ext cx="9144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b="1" dirty="0"/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4000" y="2006600"/>
            <a:ext cx="9144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b="1" dirty="0"/>
              <a:t>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48000" y="2006600"/>
            <a:ext cx="9144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b="1" dirty="0"/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0" y="1600200"/>
            <a:ext cx="18288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b="1" dirty="0" smtClean="0">
                <a:solidFill>
                  <a:srgbClr val="0000FF"/>
                </a:solidFill>
              </a:rPr>
              <a:t>ADD’ / SUB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12960" y="407401"/>
            <a:ext cx="2243935" cy="738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000" dirty="0" err="1" smtClean="0"/>
              <a:t>xor</a:t>
            </a:r>
            <a:r>
              <a:rPr lang="en-US" sz="2000" dirty="0" smtClean="0"/>
              <a:t> gate is a controlled inverter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426877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Carry Look-ahead 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propagation delay of an </a:t>
            </a:r>
            <a:r>
              <a:rPr lang="en-US" dirty="0" smtClean="0">
                <a:solidFill>
                  <a:srgbClr val="800000"/>
                </a:solidFill>
              </a:rPr>
              <a:t>n</a:t>
            </a:r>
            <a:r>
              <a:rPr lang="en-US" dirty="0" smtClean="0"/>
              <a:t>-bit ripple carry order has been seen to be proportional to </a:t>
            </a:r>
            <a:r>
              <a:rPr lang="en-US" dirty="0" smtClean="0">
                <a:solidFill>
                  <a:srgbClr val="800000"/>
                </a:solidFill>
              </a:rPr>
              <a:t>n</a:t>
            </a:r>
            <a:r>
              <a:rPr lang="en-US" dirty="0" smtClean="0"/>
              <a:t>.</a:t>
            </a:r>
          </a:p>
          <a:p>
            <a:pPr lvl="1">
              <a:spcAft>
                <a:spcPts val="1800"/>
              </a:spcAft>
            </a:pPr>
            <a:r>
              <a:rPr lang="en-US" dirty="0" smtClean="0"/>
              <a:t>Due to the rippling effect of carry sequentially from one stage to the next.</a:t>
            </a:r>
          </a:p>
          <a:p>
            <a:r>
              <a:rPr lang="en-US" dirty="0" smtClean="0"/>
              <a:t>One possible way to speedup the addition.</a:t>
            </a:r>
          </a:p>
          <a:p>
            <a:pPr lvl="1"/>
            <a:r>
              <a:rPr lang="en-US" dirty="0" smtClean="0"/>
              <a:t>Generate the carry signals for the various stages in parallel.</a:t>
            </a:r>
          </a:p>
          <a:p>
            <a:pPr lvl="1"/>
            <a:r>
              <a:rPr lang="en-US" dirty="0" smtClean="0"/>
              <a:t>Time complexity reduces from </a:t>
            </a:r>
            <a:r>
              <a:rPr lang="en-US" dirty="0" smtClean="0">
                <a:solidFill>
                  <a:srgbClr val="800000"/>
                </a:solidFill>
              </a:rPr>
              <a:t>O(n)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800000"/>
                </a:solidFill>
              </a:rPr>
              <a:t>O(1)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Hardware complexity increases rapidly with </a:t>
            </a:r>
            <a:r>
              <a:rPr lang="en-US" dirty="0" smtClean="0">
                <a:solidFill>
                  <a:srgbClr val="800000"/>
                </a:solidFill>
              </a:rPr>
              <a:t>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682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89001"/>
            <a:ext cx="8229600" cy="4978401"/>
          </a:xfrm>
        </p:spPr>
        <p:txBody>
          <a:bodyPr>
            <a:normAutofit/>
          </a:bodyPr>
          <a:lstStyle/>
          <a:p>
            <a:r>
              <a:rPr lang="en-US" sz="2700" dirty="0"/>
              <a:t>Consider the </a:t>
            </a:r>
            <a:r>
              <a:rPr lang="en-US" sz="2700" dirty="0" err="1"/>
              <a:t>i-th</a:t>
            </a:r>
            <a:r>
              <a:rPr lang="en-US" sz="2700" dirty="0"/>
              <a:t> stage in the addition process.</a:t>
            </a:r>
          </a:p>
          <a:p>
            <a:r>
              <a:rPr lang="en-US" sz="2700" dirty="0"/>
              <a:t>We define the </a:t>
            </a:r>
            <a:r>
              <a:rPr lang="en-US" sz="2700" i="1" dirty="0">
                <a:solidFill>
                  <a:srgbClr val="800000"/>
                </a:solidFill>
              </a:rPr>
              <a:t>carry generate </a:t>
            </a:r>
            <a:r>
              <a:rPr lang="en-US" sz="2700" dirty="0"/>
              <a:t>and </a:t>
            </a:r>
            <a:r>
              <a:rPr lang="en-US" sz="2700" i="1" dirty="0">
                <a:solidFill>
                  <a:srgbClr val="800000"/>
                </a:solidFill>
              </a:rPr>
              <a:t>carry propagate </a:t>
            </a:r>
            <a:r>
              <a:rPr lang="en-US" sz="2700" dirty="0"/>
              <a:t>functions as:</a:t>
            </a:r>
          </a:p>
          <a:p>
            <a:pPr marL="609585" lvl="1" indent="0">
              <a:buNone/>
            </a:pPr>
            <a:r>
              <a:rPr lang="en-US" dirty="0"/>
              <a:t>    </a:t>
            </a:r>
            <a:r>
              <a:rPr lang="en-US" dirty="0" err="1"/>
              <a:t>G</a:t>
            </a:r>
            <a:r>
              <a:rPr lang="en-US" baseline="-25000" dirty="0" err="1"/>
              <a:t>i</a:t>
            </a:r>
            <a:r>
              <a:rPr lang="en-US" dirty="0"/>
              <a:t> = 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 err="1"/>
              <a:t>.B</a:t>
            </a:r>
            <a:r>
              <a:rPr lang="en-US" baseline="-25000" dirty="0" err="1"/>
              <a:t>i</a:t>
            </a:r>
            <a:endParaRPr lang="en-US" baseline="-25000" dirty="0"/>
          </a:p>
          <a:p>
            <a:pPr marL="609585" lvl="1" indent="0">
              <a:buNone/>
            </a:pPr>
            <a:r>
              <a:rPr lang="en-US" dirty="0"/>
              <a:t>    P</a:t>
            </a:r>
            <a:r>
              <a:rPr lang="en-US" baseline="-25000" dirty="0"/>
              <a:t>i</a:t>
            </a:r>
            <a:r>
              <a:rPr lang="en-US" dirty="0"/>
              <a:t> = A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 B</a:t>
            </a:r>
            <a:r>
              <a:rPr lang="en-US" baseline="-25000" dirty="0">
                <a:sym typeface="Symbol" charset="0"/>
              </a:rPr>
              <a:t>i</a:t>
            </a:r>
          </a:p>
          <a:p>
            <a:r>
              <a:rPr lang="en-US" sz="2700" dirty="0" err="1"/>
              <a:t>G</a:t>
            </a:r>
            <a:r>
              <a:rPr lang="en-US" sz="2700" baseline="-25000" dirty="0" err="1"/>
              <a:t>i</a:t>
            </a:r>
            <a:r>
              <a:rPr lang="en-US" sz="2700" dirty="0"/>
              <a:t> = 1 represents the condition when a carry is generated in stage-</a:t>
            </a:r>
            <a:r>
              <a:rPr lang="en-US" sz="2700" dirty="0" err="1"/>
              <a:t>i</a:t>
            </a:r>
            <a:r>
              <a:rPr lang="en-US" sz="2700" dirty="0"/>
              <a:t> independent of the other stages.</a:t>
            </a:r>
          </a:p>
          <a:p>
            <a:r>
              <a:rPr lang="en-US" sz="2700" dirty="0"/>
              <a:t>P</a:t>
            </a:r>
            <a:r>
              <a:rPr lang="en-US" sz="2700" baseline="-25000" dirty="0"/>
              <a:t>i</a:t>
            </a:r>
            <a:r>
              <a:rPr lang="en-US" sz="2700" dirty="0"/>
              <a:t> = 1 represents the condition when an input carry </a:t>
            </a:r>
            <a:r>
              <a:rPr lang="en-US" sz="2700" dirty="0" err="1"/>
              <a:t>C</a:t>
            </a:r>
            <a:r>
              <a:rPr lang="en-US" sz="2700" baseline="-25000" dirty="0" err="1"/>
              <a:t>i</a:t>
            </a:r>
            <a:r>
              <a:rPr lang="en-US" sz="2700" dirty="0"/>
              <a:t> will be propagated to the output carry C</a:t>
            </a:r>
            <a:r>
              <a:rPr lang="en-US" sz="2700" baseline="-25000" dirty="0"/>
              <a:t>i+1</a:t>
            </a:r>
            <a:r>
              <a:rPr lang="en-US" sz="27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855200" y="1803400"/>
            <a:ext cx="914400" cy="1219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448800" y="2006600"/>
            <a:ext cx="40640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9448800" y="2819400"/>
            <a:ext cx="40640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769600" y="2819400"/>
            <a:ext cx="40640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0769600" y="2092643"/>
            <a:ext cx="40640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9448800" y="2413000"/>
            <a:ext cx="40640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176000" y="2530157"/>
            <a:ext cx="7112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C</a:t>
            </a:r>
            <a:r>
              <a:rPr lang="en-US" sz="2000" baseline="-25000" dirty="0" smtClean="0"/>
              <a:t>i+1</a:t>
            </a:r>
            <a:endParaRPr lang="en-US" sz="2000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76000" y="18034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S</a:t>
            </a:r>
            <a:r>
              <a:rPr lang="en-US" sz="2000" baseline="-25000" dirty="0" smtClean="0"/>
              <a:t>i</a:t>
            </a:r>
            <a:endParaRPr lang="en-US" sz="2000" baseline="-25000" dirty="0"/>
          </a:p>
        </p:txBody>
      </p:sp>
      <p:sp>
        <p:nvSpPr>
          <p:cNvPr id="14" name="TextBox 13"/>
          <p:cNvSpPr txBox="1"/>
          <p:nvPr/>
        </p:nvSpPr>
        <p:spPr>
          <a:xfrm>
            <a:off x="8940800" y="2514600"/>
            <a:ext cx="8128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err="1" smtClean="0"/>
              <a:t>C</a:t>
            </a:r>
            <a:r>
              <a:rPr lang="en-US" sz="2000" baseline="-25000" dirty="0" err="1" smtClean="0"/>
              <a:t>i</a:t>
            </a:r>
            <a:endParaRPr lang="en-US" sz="2000" baseline="-25000" dirty="0"/>
          </a:p>
        </p:txBody>
      </p:sp>
      <p:sp>
        <p:nvSpPr>
          <p:cNvPr id="15" name="TextBox 14"/>
          <p:cNvSpPr txBox="1"/>
          <p:nvPr/>
        </p:nvSpPr>
        <p:spPr>
          <a:xfrm>
            <a:off x="8940800" y="21082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B</a:t>
            </a:r>
            <a:r>
              <a:rPr lang="en-US" sz="2000" baseline="-25000" dirty="0" smtClean="0"/>
              <a:t>i</a:t>
            </a:r>
            <a:endParaRPr lang="en-US" sz="2000" baseline="-25000" dirty="0"/>
          </a:p>
        </p:txBody>
      </p:sp>
      <p:sp>
        <p:nvSpPr>
          <p:cNvPr id="16" name="TextBox 15"/>
          <p:cNvSpPr txBox="1"/>
          <p:nvPr/>
        </p:nvSpPr>
        <p:spPr>
          <a:xfrm>
            <a:off x="8940800" y="1701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A</a:t>
            </a:r>
            <a:r>
              <a:rPr lang="en-US" sz="2000" baseline="-25000" dirty="0" smtClean="0"/>
              <a:t>i</a:t>
            </a:r>
            <a:endParaRPr lang="en-US" sz="2000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9102655" y="3530601"/>
            <a:ext cx="2164907" cy="492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800000"/>
                </a:solidFill>
              </a:rPr>
              <a:t>C</a:t>
            </a:r>
            <a:r>
              <a:rPr lang="en-US" sz="2400" baseline="-25000" dirty="0">
                <a:solidFill>
                  <a:srgbClr val="800000"/>
                </a:solidFill>
              </a:rPr>
              <a:t>i+1 </a:t>
            </a:r>
            <a:r>
              <a:rPr lang="en-US" sz="2400" dirty="0">
                <a:solidFill>
                  <a:srgbClr val="800000"/>
                </a:solidFill>
              </a:rPr>
              <a:t>= </a:t>
            </a:r>
            <a:r>
              <a:rPr lang="en-US" sz="2400" dirty="0" err="1">
                <a:solidFill>
                  <a:srgbClr val="800000"/>
                </a:solidFill>
              </a:rPr>
              <a:t>G</a:t>
            </a:r>
            <a:r>
              <a:rPr lang="en-US" sz="2400" baseline="-25000" dirty="0" err="1">
                <a:solidFill>
                  <a:srgbClr val="800000"/>
                </a:solidFill>
              </a:rPr>
              <a:t>i</a:t>
            </a:r>
            <a:r>
              <a:rPr lang="en-US" sz="2400" dirty="0">
                <a:solidFill>
                  <a:srgbClr val="800000"/>
                </a:solidFill>
              </a:rPr>
              <a:t>  +  </a:t>
            </a:r>
            <a:r>
              <a:rPr lang="en-US" sz="2400" dirty="0" err="1">
                <a:solidFill>
                  <a:srgbClr val="800000"/>
                </a:solidFill>
              </a:rPr>
              <a:t>P</a:t>
            </a:r>
            <a:r>
              <a:rPr lang="en-US" sz="2400" baseline="-25000" dirty="0" err="1">
                <a:solidFill>
                  <a:srgbClr val="800000"/>
                </a:solidFill>
              </a:rPr>
              <a:t>i</a:t>
            </a:r>
            <a:r>
              <a:rPr lang="en-US" sz="2400" dirty="0" err="1">
                <a:solidFill>
                  <a:srgbClr val="800000"/>
                </a:solidFill>
              </a:rPr>
              <a:t>.C</a:t>
            </a:r>
            <a:r>
              <a:rPr lang="en-US" sz="2400" baseline="-25000" dirty="0" err="1">
                <a:solidFill>
                  <a:srgbClr val="800000"/>
                </a:solidFill>
              </a:rPr>
              <a:t>i</a:t>
            </a:r>
            <a:endParaRPr lang="en-US" sz="2400" baseline="-250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0351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Unrolling the Recurrence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2336799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dirty="0"/>
              <a:t>C</a:t>
            </a:r>
            <a:r>
              <a:rPr lang="en-US" sz="2400" baseline="-25000" dirty="0"/>
              <a:t>i+1   </a:t>
            </a:r>
            <a:r>
              <a:rPr lang="en-US" sz="2400" dirty="0"/>
              <a:t>=   </a:t>
            </a:r>
            <a:r>
              <a:rPr lang="en-US" sz="2400" dirty="0" err="1"/>
              <a:t>G</a:t>
            </a:r>
            <a:r>
              <a:rPr lang="en-US" sz="2400" baseline="-25000" dirty="0" err="1"/>
              <a:t>i</a:t>
            </a:r>
            <a:r>
              <a:rPr lang="en-US" sz="2400" dirty="0"/>
              <a:t> + </a:t>
            </a:r>
            <a:r>
              <a:rPr lang="en-US" sz="2400" dirty="0" err="1"/>
              <a:t>P</a:t>
            </a:r>
            <a:r>
              <a:rPr lang="en-US" sz="2400" baseline="-25000" dirty="0" err="1"/>
              <a:t>i</a:t>
            </a:r>
            <a:r>
              <a:rPr lang="en-US" sz="2400" dirty="0" err="1"/>
              <a:t>C</a:t>
            </a:r>
            <a:r>
              <a:rPr lang="en-US" sz="2400" baseline="-25000" dirty="0" err="1"/>
              <a:t>i</a:t>
            </a:r>
            <a:r>
              <a:rPr lang="en-US" sz="2400" dirty="0"/>
              <a:t>   =   </a:t>
            </a:r>
            <a:r>
              <a:rPr lang="en-US" sz="2400" dirty="0" err="1"/>
              <a:t>G</a:t>
            </a:r>
            <a:r>
              <a:rPr lang="en-US" sz="2400" baseline="-25000" dirty="0" err="1"/>
              <a:t>i</a:t>
            </a:r>
            <a:r>
              <a:rPr lang="en-US" sz="2400" dirty="0"/>
              <a:t> + P</a:t>
            </a:r>
            <a:r>
              <a:rPr lang="en-US" sz="2400" baseline="-25000" dirty="0"/>
              <a:t>i</a:t>
            </a:r>
            <a:r>
              <a:rPr lang="en-US" sz="2400" dirty="0"/>
              <a:t> (G</a:t>
            </a:r>
            <a:r>
              <a:rPr lang="en-US" sz="2400" baseline="-25000" dirty="0"/>
              <a:t>i-1</a:t>
            </a:r>
            <a:r>
              <a:rPr lang="en-US" sz="2400" dirty="0"/>
              <a:t> + P</a:t>
            </a:r>
            <a:r>
              <a:rPr lang="en-US" sz="2400" baseline="-25000" dirty="0"/>
              <a:t>i-1</a:t>
            </a:r>
            <a:r>
              <a:rPr lang="en-US" sz="2400" dirty="0"/>
              <a:t>C</a:t>
            </a:r>
            <a:r>
              <a:rPr lang="en-US" sz="2400" baseline="-25000" dirty="0"/>
              <a:t>i-1</a:t>
            </a:r>
            <a:r>
              <a:rPr lang="en-US" sz="2400" dirty="0"/>
              <a:t>)   =   </a:t>
            </a:r>
            <a:r>
              <a:rPr lang="en-US" sz="2400" dirty="0" err="1"/>
              <a:t>G</a:t>
            </a:r>
            <a:r>
              <a:rPr lang="en-US" sz="2400" baseline="-25000" dirty="0" err="1"/>
              <a:t>i</a:t>
            </a:r>
            <a:r>
              <a:rPr lang="en-US" sz="2400" dirty="0"/>
              <a:t> + P</a:t>
            </a:r>
            <a:r>
              <a:rPr lang="en-US" sz="2400" baseline="-25000" dirty="0"/>
              <a:t>i</a:t>
            </a:r>
            <a:r>
              <a:rPr lang="en-US" sz="2400" dirty="0"/>
              <a:t>G</a:t>
            </a:r>
            <a:r>
              <a:rPr lang="en-US" sz="2400" baseline="-25000" dirty="0"/>
              <a:t>i-1</a:t>
            </a:r>
            <a:r>
              <a:rPr lang="en-US" sz="2400" dirty="0"/>
              <a:t> + P</a:t>
            </a:r>
            <a:r>
              <a:rPr lang="en-US" sz="2400" baseline="-25000" dirty="0"/>
              <a:t>i</a:t>
            </a:r>
            <a:r>
              <a:rPr lang="en-US" sz="2400" dirty="0"/>
              <a:t>P</a:t>
            </a:r>
            <a:r>
              <a:rPr lang="en-US" sz="2400" baseline="-25000" dirty="0"/>
              <a:t>i-1</a:t>
            </a:r>
            <a:r>
              <a:rPr lang="en-US" sz="2400" dirty="0"/>
              <a:t>C</a:t>
            </a:r>
            <a:r>
              <a:rPr lang="en-US" sz="2400" baseline="-25000" dirty="0"/>
              <a:t>i-1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/>
              <a:t>        =   </a:t>
            </a:r>
            <a:r>
              <a:rPr lang="en-US" sz="2400" dirty="0" err="1"/>
              <a:t>G</a:t>
            </a:r>
            <a:r>
              <a:rPr lang="en-US" sz="2400" baseline="-25000" dirty="0" err="1"/>
              <a:t>i</a:t>
            </a:r>
            <a:r>
              <a:rPr lang="en-US" sz="2400" dirty="0"/>
              <a:t> + P</a:t>
            </a:r>
            <a:r>
              <a:rPr lang="en-US" sz="2400" baseline="-25000" dirty="0"/>
              <a:t>i</a:t>
            </a:r>
            <a:r>
              <a:rPr lang="en-US" sz="2400" dirty="0"/>
              <a:t>G</a:t>
            </a:r>
            <a:r>
              <a:rPr lang="en-US" sz="2400" baseline="-25000" dirty="0"/>
              <a:t>i-1</a:t>
            </a:r>
            <a:r>
              <a:rPr lang="en-US" sz="2400" dirty="0"/>
              <a:t> + P</a:t>
            </a:r>
            <a:r>
              <a:rPr lang="en-US" sz="2400" baseline="-25000" dirty="0"/>
              <a:t>i</a:t>
            </a:r>
            <a:r>
              <a:rPr lang="en-US" sz="2400" dirty="0"/>
              <a:t>P</a:t>
            </a:r>
            <a:r>
              <a:rPr lang="en-US" sz="2400" baseline="-25000" dirty="0"/>
              <a:t>i-1 </a:t>
            </a:r>
            <a:r>
              <a:rPr lang="en-US" sz="2400" dirty="0"/>
              <a:t>(G</a:t>
            </a:r>
            <a:r>
              <a:rPr lang="en-US" sz="2400" baseline="-25000" dirty="0"/>
              <a:t>i-2</a:t>
            </a:r>
            <a:r>
              <a:rPr lang="en-US" sz="2400" dirty="0"/>
              <a:t> + P</a:t>
            </a:r>
            <a:r>
              <a:rPr lang="en-US" sz="2400" baseline="-25000" dirty="0"/>
              <a:t>i-2</a:t>
            </a:r>
            <a:r>
              <a:rPr lang="en-US" sz="2400" dirty="0"/>
              <a:t>C</a:t>
            </a:r>
            <a:r>
              <a:rPr lang="en-US" sz="2400" baseline="-25000" dirty="0"/>
              <a:t>i-2</a:t>
            </a:r>
            <a:r>
              <a:rPr lang="en-US" sz="2400" dirty="0"/>
              <a:t>)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/>
              <a:t>        =   </a:t>
            </a:r>
            <a:r>
              <a:rPr lang="en-US" sz="2400" dirty="0" err="1"/>
              <a:t>G</a:t>
            </a:r>
            <a:r>
              <a:rPr lang="en-US" sz="2400" baseline="-25000" dirty="0" err="1"/>
              <a:t>i</a:t>
            </a:r>
            <a:r>
              <a:rPr lang="en-US" sz="2400" dirty="0"/>
              <a:t> + P</a:t>
            </a:r>
            <a:r>
              <a:rPr lang="en-US" sz="2400" baseline="-25000" dirty="0"/>
              <a:t>i</a:t>
            </a:r>
            <a:r>
              <a:rPr lang="en-US" sz="2400" dirty="0"/>
              <a:t>G</a:t>
            </a:r>
            <a:r>
              <a:rPr lang="en-US" sz="2400" baseline="-25000" dirty="0"/>
              <a:t>i-1</a:t>
            </a:r>
            <a:r>
              <a:rPr lang="en-US" sz="2400" dirty="0"/>
              <a:t> + P</a:t>
            </a:r>
            <a:r>
              <a:rPr lang="en-US" sz="2400" baseline="-25000" dirty="0"/>
              <a:t>i</a:t>
            </a:r>
            <a:r>
              <a:rPr lang="en-US" sz="2400" dirty="0"/>
              <a:t>P</a:t>
            </a:r>
            <a:r>
              <a:rPr lang="en-US" sz="2400" baseline="-25000" dirty="0"/>
              <a:t>i-1 </a:t>
            </a:r>
            <a:r>
              <a:rPr lang="en-US" sz="2400" dirty="0"/>
              <a:t>G</a:t>
            </a:r>
            <a:r>
              <a:rPr lang="en-US" sz="2400" baseline="-25000" dirty="0"/>
              <a:t>i-2</a:t>
            </a:r>
            <a:r>
              <a:rPr lang="en-US" sz="2400" dirty="0"/>
              <a:t> + P</a:t>
            </a:r>
            <a:r>
              <a:rPr lang="en-US" sz="2400" baseline="-25000" dirty="0"/>
              <a:t>i</a:t>
            </a:r>
            <a:r>
              <a:rPr lang="en-US" sz="2400" dirty="0"/>
              <a:t>P</a:t>
            </a:r>
            <a:r>
              <a:rPr lang="en-US" sz="2400" baseline="-25000" dirty="0"/>
              <a:t>i-1</a:t>
            </a:r>
            <a:r>
              <a:rPr lang="en-US" sz="2400" dirty="0"/>
              <a:t>P</a:t>
            </a:r>
            <a:r>
              <a:rPr lang="en-US" sz="2400" baseline="-25000" dirty="0"/>
              <a:t>i-2</a:t>
            </a:r>
            <a:r>
              <a:rPr lang="en-US" sz="2400" dirty="0"/>
              <a:t>C</a:t>
            </a:r>
            <a:r>
              <a:rPr lang="en-US" sz="2400" baseline="-25000" dirty="0"/>
              <a:t>i-2</a:t>
            </a:r>
            <a:r>
              <a:rPr lang="en-US" sz="2400" dirty="0"/>
              <a:t>   =    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32000" y="3937000"/>
            <a:ext cx="7924800" cy="172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3700" dirty="0">
                <a:solidFill>
                  <a:srgbClr val="000090"/>
                </a:solidFill>
              </a:rPr>
              <a:t>C</a:t>
            </a:r>
            <a:r>
              <a:rPr lang="en-US" sz="3700" baseline="-25000" dirty="0">
                <a:solidFill>
                  <a:srgbClr val="000090"/>
                </a:solidFill>
              </a:rPr>
              <a:t>i+1</a:t>
            </a:r>
            <a:r>
              <a:rPr lang="en-US" sz="3700" dirty="0">
                <a:solidFill>
                  <a:srgbClr val="000090"/>
                </a:solidFill>
              </a:rPr>
              <a:t>  =  </a:t>
            </a:r>
            <a:r>
              <a:rPr lang="en-US" sz="3700" dirty="0" err="1">
                <a:solidFill>
                  <a:srgbClr val="000090"/>
                </a:solidFill>
              </a:rPr>
              <a:t>G</a:t>
            </a:r>
            <a:r>
              <a:rPr lang="en-US" sz="3700" baseline="-25000" dirty="0" err="1">
                <a:solidFill>
                  <a:srgbClr val="000090"/>
                </a:solidFill>
              </a:rPr>
              <a:t>i</a:t>
            </a:r>
            <a:r>
              <a:rPr lang="en-US" sz="3700" dirty="0">
                <a:solidFill>
                  <a:srgbClr val="000090"/>
                </a:solidFill>
              </a:rPr>
              <a:t>  +  </a:t>
            </a:r>
            <a:r>
              <a:rPr lang="en-US" sz="3700" dirty="0">
                <a:solidFill>
                  <a:srgbClr val="000090"/>
                </a:solidFill>
                <a:sym typeface="Symbol" charset="0"/>
              </a:rPr>
              <a:t> </a:t>
            </a:r>
            <a:r>
              <a:rPr lang="en-US" sz="3700" dirty="0" err="1">
                <a:solidFill>
                  <a:srgbClr val="000090"/>
                </a:solidFill>
                <a:sym typeface="Symbol" charset="0"/>
              </a:rPr>
              <a:t>G</a:t>
            </a:r>
            <a:r>
              <a:rPr lang="en-US" sz="3700" baseline="-25000" dirty="0" err="1">
                <a:solidFill>
                  <a:srgbClr val="000090"/>
                </a:solidFill>
                <a:sym typeface="Symbol" charset="0"/>
              </a:rPr>
              <a:t>k</a:t>
            </a:r>
            <a:r>
              <a:rPr lang="en-US" sz="3700" dirty="0">
                <a:solidFill>
                  <a:srgbClr val="000090"/>
                </a:solidFill>
                <a:sym typeface="Symbol" charset="0"/>
              </a:rPr>
              <a:t>   </a:t>
            </a:r>
            <a:r>
              <a:rPr lang="en-US" sz="3700" dirty="0" err="1">
                <a:solidFill>
                  <a:srgbClr val="000090"/>
                </a:solidFill>
                <a:sym typeface="Symbol" charset="0"/>
              </a:rPr>
              <a:t>P</a:t>
            </a:r>
            <a:r>
              <a:rPr lang="en-US" sz="3700" baseline="-25000" dirty="0" err="1">
                <a:solidFill>
                  <a:srgbClr val="000090"/>
                </a:solidFill>
                <a:sym typeface="Symbol" charset="0"/>
              </a:rPr>
              <a:t>j</a:t>
            </a:r>
            <a:r>
              <a:rPr lang="en-US" sz="3700" dirty="0">
                <a:solidFill>
                  <a:srgbClr val="000090"/>
                </a:solidFill>
                <a:sym typeface="Symbol" charset="0"/>
              </a:rPr>
              <a:t>  +  C</a:t>
            </a:r>
            <a:r>
              <a:rPr lang="en-US" sz="3700" baseline="-25000" dirty="0">
                <a:solidFill>
                  <a:srgbClr val="000090"/>
                </a:solidFill>
                <a:sym typeface="Symbol" charset="0"/>
              </a:rPr>
              <a:t>0 </a:t>
            </a:r>
            <a:r>
              <a:rPr lang="en-US" sz="3700" dirty="0">
                <a:solidFill>
                  <a:srgbClr val="000090"/>
                </a:solidFill>
                <a:sym typeface="Symbol" charset="0"/>
              </a:rPr>
              <a:t> </a:t>
            </a:r>
            <a:r>
              <a:rPr lang="en-US" sz="3700" dirty="0" err="1">
                <a:solidFill>
                  <a:srgbClr val="000090"/>
                </a:solidFill>
                <a:sym typeface="Symbol" charset="0"/>
              </a:rPr>
              <a:t>P</a:t>
            </a:r>
            <a:r>
              <a:rPr lang="en-US" sz="3700" baseline="-25000" dirty="0" err="1">
                <a:solidFill>
                  <a:srgbClr val="000090"/>
                </a:solidFill>
                <a:sym typeface="Symbol" charset="0"/>
              </a:rPr>
              <a:t>j</a:t>
            </a:r>
            <a:r>
              <a:rPr lang="en-US" sz="3700" dirty="0">
                <a:solidFill>
                  <a:srgbClr val="000090"/>
                </a:solidFill>
                <a:sym typeface="Symbol" charset="0"/>
              </a:rPr>
              <a:t>  </a:t>
            </a:r>
            <a:endParaRPr lang="en-US" sz="3700" dirty="0">
              <a:solidFill>
                <a:srgbClr val="00009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0" y="4953000"/>
            <a:ext cx="1117600" cy="53348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700" dirty="0">
                <a:solidFill>
                  <a:srgbClr val="000090"/>
                </a:solidFill>
              </a:rPr>
              <a:t>k=0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600" y="4114720"/>
            <a:ext cx="711200" cy="53348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700" dirty="0">
                <a:solidFill>
                  <a:srgbClr val="000090"/>
                </a:solidFill>
              </a:rPr>
              <a:t>i-1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4953000"/>
            <a:ext cx="1117600" cy="53348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700" dirty="0">
                <a:solidFill>
                  <a:srgbClr val="000090"/>
                </a:solidFill>
              </a:rPr>
              <a:t>j=0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953000"/>
            <a:ext cx="1117600" cy="53348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700" dirty="0">
                <a:solidFill>
                  <a:srgbClr val="000090"/>
                </a:solidFill>
              </a:rPr>
              <a:t>j=k+1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40200"/>
            <a:ext cx="1117600" cy="53348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700" dirty="0" err="1">
                <a:solidFill>
                  <a:srgbClr val="000090"/>
                </a:solidFill>
              </a:rPr>
              <a:t>i</a:t>
            </a:r>
            <a:endParaRPr lang="en-US" sz="2700" dirty="0">
              <a:solidFill>
                <a:srgbClr val="00009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31200" y="4140200"/>
            <a:ext cx="1117600" cy="53348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700" dirty="0" err="1">
                <a:solidFill>
                  <a:srgbClr val="000090"/>
                </a:solidFill>
              </a:rPr>
              <a:t>i</a:t>
            </a:r>
            <a:endParaRPr lang="en-US" sz="2700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906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09600" y="3591235"/>
            <a:ext cx="8128000" cy="213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" y="1498600"/>
            <a:ext cx="8128000" cy="20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4-bit CLA 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0"/>
            <a:ext cx="8432800" cy="4470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4</a:t>
            </a:r>
            <a:r>
              <a:rPr lang="en-US" dirty="0" smtClean="0"/>
              <a:t>  =  G</a:t>
            </a:r>
            <a:r>
              <a:rPr lang="en-US" baseline="-25000" dirty="0" smtClean="0"/>
              <a:t>3</a:t>
            </a:r>
            <a:r>
              <a:rPr lang="en-US" dirty="0" smtClean="0"/>
              <a:t> + G</a:t>
            </a:r>
            <a:r>
              <a:rPr lang="en-US" baseline="-25000" dirty="0" smtClean="0"/>
              <a:t>2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  <a:r>
              <a:rPr lang="en-US" dirty="0" smtClean="0"/>
              <a:t> + G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  <a:r>
              <a:rPr lang="en-US" dirty="0" smtClean="0"/>
              <a:t> + G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  <a:r>
              <a:rPr lang="en-US" dirty="0" smtClean="0"/>
              <a:t> + 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3</a:t>
            </a:r>
            <a:r>
              <a:rPr lang="en-US" dirty="0" smtClean="0"/>
              <a:t>  =  G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dirty="0" smtClean="0"/>
              <a:t>  =  G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/>
              <a:t>1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1</a:t>
            </a:r>
            <a:r>
              <a:rPr lang="en-US" dirty="0" smtClean="0"/>
              <a:t>  =  G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/>
              <a:t>0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0</a:t>
            </a:r>
            <a:r>
              <a:rPr lang="en-US" dirty="0" smtClean="0"/>
              <a:t>  =  A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 smtClean="0">
                <a:sym typeface="Symbol" charset="0"/>
              </a:rPr>
              <a:t> B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 C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 =  P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 C</a:t>
            </a:r>
            <a:r>
              <a:rPr lang="en-US" baseline="-25000" dirty="0" smtClean="0">
                <a:sym typeface="Symbol" charset="0"/>
              </a:rPr>
              <a:t>0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 smtClean="0">
                <a:sym typeface="Symbol" charset="0"/>
              </a:rPr>
              <a:t>1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1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2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 smtClean="0">
                <a:sym typeface="Symbol" charset="0"/>
              </a:rPr>
              <a:t>2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2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3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>
                <a:sym typeface="Symbol" charset="0"/>
              </a:rPr>
              <a:t>3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245600" y="4038600"/>
            <a:ext cx="20320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>
                <a:solidFill>
                  <a:srgbClr val="800000"/>
                </a:solidFill>
              </a:rPr>
              <a:t>4 XOR2 gates</a:t>
            </a:r>
            <a:endParaRPr lang="en-US" sz="2000" dirty="0">
              <a:solidFill>
                <a:srgbClr val="8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0" y="1295401"/>
            <a:ext cx="2844800" cy="1969766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>
                <a:solidFill>
                  <a:srgbClr val="800000"/>
                </a:solidFill>
              </a:rPr>
              <a:t>4 AND2 gates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3 AND3 gates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2 AND4 gates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1 AND5 gate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1 OR2, 1 OR3, 1 OR4 and 1 OR5 gate</a:t>
            </a:r>
            <a:endParaRPr lang="en-US" sz="20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0535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09600" y="3632200"/>
            <a:ext cx="8128000" cy="213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" y="1498600"/>
            <a:ext cx="8128000" cy="20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4-bit CLA 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0"/>
            <a:ext cx="8432800" cy="4470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4</a:t>
            </a:r>
            <a:r>
              <a:rPr lang="en-US" dirty="0" smtClean="0"/>
              <a:t>  =  G</a:t>
            </a:r>
            <a:r>
              <a:rPr lang="en-US" baseline="-25000" dirty="0" smtClean="0"/>
              <a:t>3</a:t>
            </a:r>
            <a:r>
              <a:rPr lang="en-US" dirty="0" smtClean="0"/>
              <a:t> + G</a:t>
            </a:r>
            <a:r>
              <a:rPr lang="en-US" baseline="-25000" dirty="0" smtClean="0"/>
              <a:t>2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  <a:r>
              <a:rPr lang="en-US" dirty="0" smtClean="0"/>
              <a:t> + G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  <a:r>
              <a:rPr lang="en-US" dirty="0" smtClean="0"/>
              <a:t> + G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  <a:r>
              <a:rPr lang="en-US" dirty="0" smtClean="0"/>
              <a:t> + 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3</a:t>
            </a:r>
            <a:r>
              <a:rPr lang="en-US" dirty="0" smtClean="0"/>
              <a:t>  =  G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dirty="0" smtClean="0"/>
              <a:t>  =  G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/>
              <a:t>1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1</a:t>
            </a:r>
            <a:r>
              <a:rPr lang="en-US" dirty="0" smtClean="0"/>
              <a:t>  =  G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/>
              <a:t>0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0</a:t>
            </a:r>
            <a:r>
              <a:rPr lang="en-US" dirty="0" smtClean="0"/>
              <a:t>  =  A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 smtClean="0">
                <a:sym typeface="Symbol" charset="0"/>
              </a:rPr>
              <a:t> B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 C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 =  P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 C</a:t>
            </a:r>
            <a:r>
              <a:rPr lang="en-US" baseline="-25000" dirty="0" smtClean="0">
                <a:sym typeface="Symbol" charset="0"/>
              </a:rPr>
              <a:t>0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 smtClean="0">
                <a:sym typeface="Symbol" charset="0"/>
              </a:rPr>
              <a:t>1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1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2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 smtClean="0">
                <a:sym typeface="Symbol" charset="0"/>
              </a:rPr>
              <a:t>2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2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3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>
                <a:sym typeface="Symbol" charset="0"/>
              </a:rPr>
              <a:t>3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245600" y="4038600"/>
            <a:ext cx="20320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>
                <a:solidFill>
                  <a:srgbClr val="800000"/>
                </a:solidFill>
              </a:rPr>
              <a:t>4 XOR2 gates</a:t>
            </a:r>
            <a:endParaRPr lang="en-US" sz="2000" dirty="0">
              <a:solidFill>
                <a:srgbClr val="8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0" y="1295401"/>
            <a:ext cx="2819251" cy="1969766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>
                <a:solidFill>
                  <a:srgbClr val="800000"/>
                </a:solidFill>
              </a:rPr>
              <a:t>4 AND2 gates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3 AND3 gates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2 AND4 gates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1 AND5 gate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1 OR2, 1 OR3, 1 OR4 and 1 OR5 gate</a:t>
            </a:r>
            <a:endParaRPr lang="en-US" sz="2000" dirty="0">
              <a:solidFill>
                <a:srgbClr val="8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26400" y="2006600"/>
            <a:ext cx="4450163" cy="50800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60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09600" y="3632200"/>
            <a:ext cx="8128000" cy="213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" y="1498600"/>
            <a:ext cx="8128000" cy="20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4-bit CLA 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0"/>
            <a:ext cx="8432800" cy="4470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4</a:t>
            </a:r>
            <a:r>
              <a:rPr lang="en-US" dirty="0" smtClean="0"/>
              <a:t>  =  G</a:t>
            </a:r>
            <a:r>
              <a:rPr lang="en-US" baseline="-25000" dirty="0" smtClean="0"/>
              <a:t>3</a:t>
            </a:r>
            <a:r>
              <a:rPr lang="en-US" dirty="0" smtClean="0"/>
              <a:t> + </a:t>
            </a:r>
            <a:r>
              <a:rPr lang="en-US" b="1" dirty="0" smtClean="0">
                <a:solidFill>
                  <a:srgbClr val="FF0000"/>
                </a:solidFill>
              </a:rPr>
              <a:t>C</a:t>
            </a:r>
            <a:r>
              <a:rPr lang="en-US" b="1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P</a:t>
            </a:r>
            <a:r>
              <a:rPr lang="en-US" baseline="-25000" dirty="0" smtClean="0"/>
              <a:t>3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3</a:t>
            </a:r>
            <a:r>
              <a:rPr lang="en-US" dirty="0" smtClean="0"/>
              <a:t>  =  G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P</a:t>
            </a:r>
            <a:r>
              <a:rPr lang="en-US" baseline="-25000" dirty="0"/>
              <a:t>2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dirty="0" smtClean="0"/>
              <a:t>  =  G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G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/>
              <a:t>1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baseline="-25000" dirty="0" smtClean="0"/>
              <a:t>1</a:t>
            </a:r>
            <a:r>
              <a:rPr lang="en-US" dirty="0" smtClean="0"/>
              <a:t>  =  G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C</a:t>
            </a:r>
            <a:r>
              <a:rPr lang="en-US" baseline="-25000" dirty="0" smtClean="0"/>
              <a:t>0</a:t>
            </a:r>
            <a:r>
              <a:rPr lang="en-US" dirty="0" smtClean="0"/>
              <a:t>P</a:t>
            </a:r>
            <a:r>
              <a:rPr lang="en-US" baseline="-25000" dirty="0"/>
              <a:t>0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0</a:t>
            </a:r>
            <a:r>
              <a:rPr lang="en-US" dirty="0" smtClean="0"/>
              <a:t>  =  A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 smtClean="0">
                <a:sym typeface="Symbol" charset="0"/>
              </a:rPr>
              <a:t> B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 C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 =  P</a:t>
            </a:r>
            <a:r>
              <a:rPr lang="en-US" baseline="-25000" dirty="0" smtClean="0">
                <a:sym typeface="Symbol" charset="0"/>
              </a:rPr>
              <a:t>0</a:t>
            </a:r>
            <a:r>
              <a:rPr lang="en-US" dirty="0" smtClean="0">
                <a:sym typeface="Symbol" charset="0"/>
              </a:rPr>
              <a:t>  C</a:t>
            </a:r>
            <a:r>
              <a:rPr lang="en-US" baseline="-25000" dirty="0" smtClean="0">
                <a:sym typeface="Symbol" charset="0"/>
              </a:rPr>
              <a:t>0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 smtClean="0">
                <a:sym typeface="Symbol" charset="0"/>
              </a:rPr>
              <a:t>1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1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2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 smtClean="0">
                <a:sym typeface="Symbol" charset="0"/>
              </a:rPr>
              <a:t>2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2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3</a:t>
            </a:r>
            <a:r>
              <a:rPr lang="en-US" dirty="0" smtClean="0"/>
              <a:t>  =  </a:t>
            </a:r>
            <a:r>
              <a:rPr lang="en-US" dirty="0" smtClean="0">
                <a:sym typeface="Symbol" charset="0"/>
              </a:rPr>
              <a:t>P</a:t>
            </a:r>
            <a:r>
              <a:rPr lang="en-US" baseline="-25000" dirty="0">
                <a:sym typeface="Symbol" charset="0"/>
              </a:rPr>
              <a:t>3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 </a:t>
            </a:r>
            <a:r>
              <a:rPr lang="en-US" dirty="0" smtClean="0">
                <a:sym typeface="Symbol" charset="0"/>
              </a:rPr>
              <a:t>C</a:t>
            </a:r>
            <a:r>
              <a:rPr lang="en-US" baseline="-25000" dirty="0">
                <a:sym typeface="Symbol" charset="0"/>
              </a:rPr>
              <a:t>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245600" y="4038600"/>
            <a:ext cx="20320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>
                <a:solidFill>
                  <a:srgbClr val="800000"/>
                </a:solidFill>
              </a:rPr>
              <a:t>4 XOR2 gates</a:t>
            </a:r>
            <a:endParaRPr lang="en-US" sz="2000" dirty="0">
              <a:solidFill>
                <a:srgbClr val="8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0" y="1295401"/>
            <a:ext cx="2844800" cy="1969766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>
                <a:solidFill>
                  <a:srgbClr val="800000"/>
                </a:solidFill>
              </a:rPr>
              <a:t>4 AND2 gates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2</a:t>
            </a:r>
            <a:r>
              <a:rPr lang="en-US" sz="2000" dirty="0" smtClean="0">
                <a:solidFill>
                  <a:srgbClr val="800000"/>
                </a:solidFill>
              </a:rPr>
              <a:t> AND3 gates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1</a:t>
            </a:r>
            <a:r>
              <a:rPr lang="en-US" sz="2000" dirty="0" smtClean="0">
                <a:solidFill>
                  <a:srgbClr val="800000"/>
                </a:solidFill>
              </a:rPr>
              <a:t> AND4 gates</a:t>
            </a:r>
          </a:p>
          <a:p>
            <a:r>
              <a:rPr lang="en-US" sz="2000" strike="sngStrike" dirty="0" smtClean="0">
                <a:solidFill>
                  <a:srgbClr val="FF0000"/>
                </a:solidFill>
              </a:rPr>
              <a:t>1 AND5 gate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1 OR2, 1 OR3, 1 OR4 and 1 </a:t>
            </a:r>
            <a:r>
              <a:rPr lang="en-US" sz="2000" b="1" dirty="0" smtClean="0">
                <a:solidFill>
                  <a:srgbClr val="FF0000"/>
                </a:solidFill>
              </a:rPr>
              <a:t>OR2</a:t>
            </a:r>
            <a:r>
              <a:rPr lang="en-US" sz="2000" dirty="0" smtClean="0">
                <a:solidFill>
                  <a:srgbClr val="800000"/>
                </a:solidFill>
              </a:rPr>
              <a:t> gate</a:t>
            </a:r>
            <a:endParaRPr lang="en-US" sz="20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0614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787400"/>
            <a:ext cx="4470400" cy="812801"/>
          </a:xfrm>
        </p:spPr>
        <p:txBody>
          <a:bodyPr/>
          <a:lstStyle/>
          <a:p>
            <a:r>
              <a:rPr lang="en-US" dirty="0" smtClean="0"/>
              <a:t>The 4-bit CLA Circuit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21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4400" y="482601"/>
            <a:ext cx="4267200" cy="5304836"/>
          </a:xfrm>
          <a:noFill/>
          <a:ln w="25400">
            <a:solidFill>
              <a:srgbClr val="8000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994400" y="4826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C</a:t>
            </a:r>
            <a:r>
              <a:rPr lang="en-US" sz="2100" baseline="-25000" dirty="0"/>
              <a:t>4</a:t>
            </a:r>
            <a:endParaRPr lang="en-US" sz="2100" dirty="0"/>
          </a:p>
        </p:txBody>
      </p:sp>
      <p:sp>
        <p:nvSpPr>
          <p:cNvPr id="6" name="TextBox 5"/>
          <p:cNvSpPr txBox="1"/>
          <p:nvPr/>
        </p:nvSpPr>
        <p:spPr>
          <a:xfrm>
            <a:off x="5994400" y="22098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C</a:t>
            </a:r>
            <a:r>
              <a:rPr lang="en-US" sz="2100" baseline="-25000" dirty="0"/>
              <a:t>3</a:t>
            </a:r>
            <a:endParaRPr lang="en-US" sz="2100" dirty="0"/>
          </a:p>
        </p:txBody>
      </p:sp>
      <p:sp>
        <p:nvSpPr>
          <p:cNvPr id="7" name="TextBox 6"/>
          <p:cNvSpPr txBox="1"/>
          <p:nvPr/>
        </p:nvSpPr>
        <p:spPr>
          <a:xfrm>
            <a:off x="5994400" y="39370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C</a:t>
            </a:r>
            <a:r>
              <a:rPr lang="en-US" sz="2100" baseline="-25000" dirty="0"/>
              <a:t>2</a:t>
            </a:r>
            <a:endParaRPr lang="en-US" sz="2100" dirty="0"/>
          </a:p>
        </p:txBody>
      </p:sp>
      <p:sp>
        <p:nvSpPr>
          <p:cNvPr id="8" name="TextBox 7"/>
          <p:cNvSpPr txBox="1"/>
          <p:nvPr/>
        </p:nvSpPr>
        <p:spPr>
          <a:xfrm>
            <a:off x="5994400" y="49530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C</a:t>
            </a:r>
            <a:r>
              <a:rPr lang="en-US" sz="2100" baseline="-25000" dirty="0"/>
              <a:t>1</a:t>
            </a:r>
            <a:endParaRPr lang="en-US" sz="2100" dirty="0"/>
          </a:p>
        </p:txBody>
      </p:sp>
      <p:sp>
        <p:nvSpPr>
          <p:cNvPr id="9" name="TextBox 8"/>
          <p:cNvSpPr txBox="1"/>
          <p:nvPr/>
        </p:nvSpPr>
        <p:spPr>
          <a:xfrm>
            <a:off x="8839200" y="5314395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C</a:t>
            </a:r>
            <a:r>
              <a:rPr lang="en-US" sz="2100" baseline="-25000" dirty="0"/>
              <a:t>0</a:t>
            </a:r>
            <a:endParaRPr lang="en-US" sz="2100" dirty="0"/>
          </a:p>
        </p:txBody>
      </p:sp>
      <p:sp>
        <p:nvSpPr>
          <p:cNvPr id="10" name="TextBox 9"/>
          <p:cNvSpPr txBox="1"/>
          <p:nvPr/>
        </p:nvSpPr>
        <p:spPr>
          <a:xfrm>
            <a:off x="9753600" y="50546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G</a:t>
            </a:r>
            <a:r>
              <a:rPr lang="en-US" sz="2100" baseline="-25000" dirty="0"/>
              <a:t>0</a:t>
            </a:r>
            <a:endParaRPr lang="en-US" sz="2100" dirty="0"/>
          </a:p>
        </p:txBody>
      </p:sp>
      <p:sp>
        <p:nvSpPr>
          <p:cNvPr id="11" name="TextBox 10"/>
          <p:cNvSpPr txBox="1"/>
          <p:nvPr/>
        </p:nvSpPr>
        <p:spPr>
          <a:xfrm>
            <a:off x="9753600" y="46482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P</a:t>
            </a:r>
            <a:r>
              <a:rPr lang="en-US" sz="2100" baseline="-25000" dirty="0"/>
              <a:t>0</a:t>
            </a:r>
            <a:endParaRPr lang="en-US" sz="2100" dirty="0"/>
          </a:p>
        </p:txBody>
      </p:sp>
      <p:sp>
        <p:nvSpPr>
          <p:cNvPr id="12" name="TextBox 11"/>
          <p:cNvSpPr txBox="1"/>
          <p:nvPr/>
        </p:nvSpPr>
        <p:spPr>
          <a:xfrm>
            <a:off x="9753600" y="42418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G</a:t>
            </a:r>
            <a:r>
              <a:rPr lang="en-US" sz="2100" baseline="-25000" dirty="0"/>
              <a:t>1</a:t>
            </a:r>
            <a:endParaRPr lang="en-US" sz="2100" dirty="0"/>
          </a:p>
        </p:txBody>
      </p:sp>
      <p:sp>
        <p:nvSpPr>
          <p:cNvPr id="13" name="TextBox 12"/>
          <p:cNvSpPr txBox="1"/>
          <p:nvPr/>
        </p:nvSpPr>
        <p:spPr>
          <a:xfrm>
            <a:off x="9753600" y="38354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P</a:t>
            </a:r>
            <a:r>
              <a:rPr lang="en-US" sz="2100" baseline="-25000" dirty="0"/>
              <a:t>1</a:t>
            </a:r>
            <a:endParaRPr lang="en-US" sz="2100" dirty="0"/>
          </a:p>
        </p:txBody>
      </p:sp>
      <p:sp>
        <p:nvSpPr>
          <p:cNvPr id="14" name="TextBox 13"/>
          <p:cNvSpPr txBox="1"/>
          <p:nvPr/>
        </p:nvSpPr>
        <p:spPr>
          <a:xfrm>
            <a:off x="9753600" y="30226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G</a:t>
            </a:r>
            <a:r>
              <a:rPr lang="en-US" sz="2100" baseline="-25000" dirty="0"/>
              <a:t>2</a:t>
            </a:r>
            <a:endParaRPr lang="en-US" sz="2100" dirty="0"/>
          </a:p>
        </p:txBody>
      </p:sp>
      <p:sp>
        <p:nvSpPr>
          <p:cNvPr id="15" name="TextBox 14"/>
          <p:cNvSpPr txBox="1"/>
          <p:nvPr/>
        </p:nvSpPr>
        <p:spPr>
          <a:xfrm>
            <a:off x="9753600" y="25146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P</a:t>
            </a:r>
            <a:r>
              <a:rPr lang="en-US" sz="2100" baseline="-25000" dirty="0"/>
              <a:t>2</a:t>
            </a:r>
            <a:endParaRPr lang="en-US" sz="2100" dirty="0"/>
          </a:p>
        </p:txBody>
      </p:sp>
      <p:sp>
        <p:nvSpPr>
          <p:cNvPr id="16" name="TextBox 15"/>
          <p:cNvSpPr txBox="1"/>
          <p:nvPr/>
        </p:nvSpPr>
        <p:spPr>
          <a:xfrm>
            <a:off x="9652000" y="12954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G</a:t>
            </a:r>
            <a:r>
              <a:rPr lang="en-US" sz="2100" baseline="-25000" dirty="0"/>
              <a:t>3</a:t>
            </a:r>
            <a:endParaRPr lang="en-US" sz="2100" dirty="0"/>
          </a:p>
        </p:txBody>
      </p:sp>
      <p:sp>
        <p:nvSpPr>
          <p:cNvPr id="17" name="TextBox 16"/>
          <p:cNvSpPr txBox="1"/>
          <p:nvPr/>
        </p:nvSpPr>
        <p:spPr>
          <a:xfrm>
            <a:off x="9652000" y="889000"/>
            <a:ext cx="508000" cy="451405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100" dirty="0"/>
              <a:t>P</a:t>
            </a:r>
            <a:r>
              <a:rPr lang="en-US" sz="2100" baseline="-25000" dirty="0"/>
              <a:t>3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8972569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4400" y="2717800"/>
            <a:ext cx="9956800" cy="812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2400" b="1" dirty="0">
                <a:solidFill>
                  <a:srgbClr val="000090"/>
                </a:solidFill>
              </a:rPr>
              <a:t>4-bit Carry Look Ahead Circuit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98600"/>
            <a:ext cx="9956800" cy="71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2400" b="1" dirty="0" err="1">
                <a:solidFill>
                  <a:srgbClr val="000090"/>
                </a:solidFill>
              </a:rPr>
              <a:t>G</a:t>
            </a:r>
            <a:r>
              <a:rPr lang="en-US" sz="2400" b="1" baseline="-25000" dirty="0" err="1">
                <a:solidFill>
                  <a:srgbClr val="000090"/>
                </a:solidFill>
              </a:rPr>
              <a:t>i</a:t>
            </a:r>
            <a:r>
              <a:rPr lang="en-US" sz="2400" b="1" dirty="0">
                <a:solidFill>
                  <a:srgbClr val="000090"/>
                </a:solidFill>
              </a:rPr>
              <a:t> and P</a:t>
            </a:r>
            <a:r>
              <a:rPr lang="en-US" sz="2400" b="1" baseline="-25000" dirty="0">
                <a:solidFill>
                  <a:srgbClr val="000090"/>
                </a:solidFill>
              </a:rPr>
              <a:t>i</a:t>
            </a:r>
            <a:r>
              <a:rPr lang="en-US" sz="2400" b="1" dirty="0">
                <a:solidFill>
                  <a:srgbClr val="000090"/>
                </a:solidFill>
              </a:rPr>
              <a:t> Generator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839200" y="482600"/>
            <a:ext cx="1117600" cy="1016000"/>
            <a:chOff x="7010400" y="361950"/>
            <a:chExt cx="838200" cy="762000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7543800" y="742950"/>
              <a:ext cx="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7239000" y="742950"/>
              <a:ext cx="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7391400" y="3619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A</a:t>
              </a:r>
              <a:r>
                <a:rPr lang="en-US" sz="2000" baseline="-25000" dirty="0" smtClean="0"/>
                <a:t>0</a:t>
              </a:r>
              <a:endParaRPr lang="en-US" sz="2000" baseline="-25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10400" y="3619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B</a:t>
              </a:r>
              <a:r>
                <a:rPr lang="en-US" sz="2000" baseline="-25000" dirty="0" smtClean="0"/>
                <a:t>0</a:t>
              </a:r>
              <a:endParaRPr lang="en-US" sz="2000" baseline="-250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604000" y="482600"/>
            <a:ext cx="1117600" cy="1016000"/>
            <a:chOff x="7010400" y="361950"/>
            <a:chExt cx="838200" cy="762000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7543800" y="742950"/>
              <a:ext cx="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7239000" y="742950"/>
              <a:ext cx="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7391400" y="3619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A</a:t>
              </a:r>
              <a:r>
                <a:rPr lang="en-US" sz="2000" baseline="-25000" dirty="0"/>
                <a:t>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10400" y="3619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B</a:t>
              </a:r>
              <a:r>
                <a:rPr lang="en-US" sz="2000" baseline="-25000" dirty="0"/>
                <a:t>1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235200" y="482600"/>
            <a:ext cx="1117600" cy="1016000"/>
            <a:chOff x="7010400" y="361950"/>
            <a:chExt cx="838200" cy="762000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7543800" y="742950"/>
              <a:ext cx="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7239000" y="742950"/>
              <a:ext cx="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391400" y="3619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A</a:t>
              </a:r>
              <a:r>
                <a:rPr lang="en-US" sz="2000" baseline="-25000" dirty="0"/>
                <a:t>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010400" y="3619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B</a:t>
              </a:r>
              <a:r>
                <a:rPr lang="en-US" sz="2000" baseline="-25000" dirty="0"/>
                <a:t>3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70400" y="482600"/>
            <a:ext cx="1117600" cy="1016000"/>
            <a:chOff x="7010400" y="361950"/>
            <a:chExt cx="838200" cy="762000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7543800" y="742950"/>
              <a:ext cx="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7239000" y="742950"/>
              <a:ext cx="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7391400" y="3619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A</a:t>
              </a:r>
              <a:r>
                <a:rPr lang="en-US" sz="2000" baseline="-25000" dirty="0"/>
                <a:t>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10400" y="361950"/>
              <a:ext cx="4572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B</a:t>
              </a:r>
              <a:r>
                <a:rPr lang="en-US" sz="2000" baseline="-25000" dirty="0"/>
                <a:t>2</a:t>
              </a:r>
            </a:p>
          </p:txBody>
        </p:sp>
      </p:grpSp>
      <p:cxnSp>
        <p:nvCxnSpPr>
          <p:cNvPr id="28" name="Straight Arrow Connector 27"/>
          <p:cNvCxnSpPr/>
          <p:nvPr/>
        </p:nvCxnSpPr>
        <p:spPr>
          <a:xfrm>
            <a:off x="9550400" y="2209800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144000" y="2209800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315200" y="2209800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6908800" y="2209800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181600" y="2209800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775200" y="2209800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946400" y="2209800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2540000" y="2209800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550400" y="2209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P</a:t>
            </a:r>
            <a:r>
              <a:rPr lang="en-US" sz="2000" baseline="-25000" dirty="0" smtClean="0"/>
              <a:t>0</a:t>
            </a:r>
            <a:endParaRPr lang="en-US" sz="2000" baseline="-25000" dirty="0"/>
          </a:p>
        </p:txBody>
      </p:sp>
      <p:sp>
        <p:nvSpPr>
          <p:cNvPr id="37" name="TextBox 36"/>
          <p:cNvSpPr txBox="1"/>
          <p:nvPr/>
        </p:nvSpPr>
        <p:spPr>
          <a:xfrm>
            <a:off x="2032000" y="2209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G</a:t>
            </a:r>
            <a:r>
              <a:rPr lang="en-US" sz="2000" baseline="-25000" dirty="0"/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7200" y="2209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G</a:t>
            </a:r>
            <a:r>
              <a:rPr lang="en-US" sz="2000" baseline="-25000" dirty="0"/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209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G</a:t>
            </a:r>
            <a:r>
              <a:rPr lang="en-US" sz="2000" baseline="-250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6000" y="2209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G</a:t>
            </a:r>
            <a:r>
              <a:rPr lang="en-US" sz="2000" baseline="-25000" dirty="0" smtClean="0"/>
              <a:t>0</a:t>
            </a:r>
            <a:endParaRPr lang="en-US" sz="2000" baseline="-25000" dirty="0"/>
          </a:p>
        </p:txBody>
      </p:sp>
      <p:sp>
        <p:nvSpPr>
          <p:cNvPr id="41" name="TextBox 40"/>
          <p:cNvSpPr txBox="1"/>
          <p:nvPr/>
        </p:nvSpPr>
        <p:spPr>
          <a:xfrm>
            <a:off x="2946400" y="2209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P</a:t>
            </a:r>
            <a:r>
              <a:rPr lang="en-US" sz="2000" baseline="-25000" dirty="0"/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1600" y="2209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P</a:t>
            </a:r>
            <a:r>
              <a:rPr lang="en-US" sz="2000" baseline="-25000" dirty="0"/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2209800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P</a:t>
            </a:r>
            <a:r>
              <a:rPr lang="en-US" sz="2000" baseline="-25000" dirty="0"/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34400" y="4460557"/>
            <a:ext cx="1524000" cy="71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xor</a:t>
            </a:r>
            <a:endParaRPr lang="en-US" sz="2400" baseline="-25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99200" y="4460557"/>
            <a:ext cx="1524000" cy="71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xor</a:t>
            </a:r>
            <a:endParaRPr lang="en-US" sz="2400" baseline="-25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165600" y="4460557"/>
            <a:ext cx="1524000" cy="71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xor</a:t>
            </a:r>
            <a:endParaRPr lang="en-US" sz="2400" baseline="-25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930400" y="4460557"/>
            <a:ext cx="1524000" cy="71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US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xor</a:t>
            </a:r>
            <a:endParaRPr lang="en-US" sz="2400" baseline="-25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9347200" y="5171757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347200" y="52733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baseline="-25000" dirty="0" smtClean="0"/>
              <a:t>0</a:t>
            </a:r>
            <a:endParaRPr lang="en-US" sz="2000" baseline="-25000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7010400" y="5171757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10400" y="52733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S</a:t>
            </a:r>
            <a:r>
              <a:rPr lang="en-US" sz="2000" baseline="-25000" dirty="0"/>
              <a:t>1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4876800" y="5171757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76800" y="52733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S</a:t>
            </a:r>
            <a:r>
              <a:rPr lang="en-US" sz="2000" baseline="-25000" dirty="0"/>
              <a:t>2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2641600" y="5171757"/>
            <a:ext cx="0" cy="508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641600" y="52733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S</a:t>
            </a:r>
            <a:r>
              <a:rPr lang="en-US" sz="2000" baseline="-25000" dirty="0"/>
              <a:t>3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9042400" y="3530600"/>
            <a:ext cx="0" cy="914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2438400" y="3530600"/>
            <a:ext cx="0" cy="914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4673600" y="3530600"/>
            <a:ext cx="0" cy="914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807200" y="3530600"/>
            <a:ext cx="0" cy="9144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9550400" y="2717800"/>
            <a:ext cx="0" cy="17272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34400" y="36477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C</a:t>
            </a:r>
            <a:r>
              <a:rPr lang="en-US" sz="2000" baseline="-25000" dirty="0" smtClean="0"/>
              <a:t>0</a:t>
            </a:r>
            <a:endParaRPr lang="en-US" sz="2000" baseline="-25000" dirty="0"/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7315200" y="2717800"/>
            <a:ext cx="0" cy="17272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99200" y="36477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C</a:t>
            </a:r>
            <a:r>
              <a:rPr lang="en-US" sz="2000" baseline="-25000" dirty="0" smtClean="0"/>
              <a:t>1</a:t>
            </a:r>
            <a:endParaRPr lang="en-US" sz="2000" baseline="-25000" dirty="0"/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5181600" y="2717800"/>
            <a:ext cx="0" cy="17272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165600" y="36477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C</a:t>
            </a:r>
            <a:r>
              <a:rPr lang="en-US" sz="2000" baseline="-25000" dirty="0" smtClean="0"/>
              <a:t>2</a:t>
            </a:r>
            <a:endParaRPr lang="en-US" sz="2000" baseline="-25000" dirty="0"/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2946400" y="2717800"/>
            <a:ext cx="0" cy="17272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930400" y="36477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/>
              <a:t>C</a:t>
            </a:r>
            <a:r>
              <a:rPr lang="en-US" sz="2000" baseline="-25000" dirty="0" smtClean="0"/>
              <a:t>3</a:t>
            </a:r>
            <a:endParaRPr lang="en-US" sz="2000" baseline="-25000" dirty="0"/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1422400" y="3530600"/>
            <a:ext cx="0" cy="16256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219200" y="5070157"/>
            <a:ext cx="609600" cy="43088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000" dirty="0" smtClean="0"/>
              <a:t>C</a:t>
            </a:r>
            <a:r>
              <a:rPr lang="en-US" sz="2000" baseline="-25000" dirty="0"/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176000" y="1600200"/>
            <a:ext cx="609600" cy="492438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400" dirty="0" smtClean="0">
                <a:solidFill>
                  <a:srgbClr val="800000"/>
                </a:solidFill>
              </a:rPr>
              <a:t>3δ</a:t>
            </a:r>
            <a:endParaRPr lang="en-US" sz="2400" dirty="0">
              <a:solidFill>
                <a:srgbClr val="80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1176000" y="2834957"/>
            <a:ext cx="609600" cy="492438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400" dirty="0">
                <a:solidFill>
                  <a:srgbClr val="800000"/>
                </a:solidFill>
              </a:rPr>
              <a:t>2</a:t>
            </a:r>
            <a:r>
              <a:rPr lang="en-US" sz="2400" dirty="0" smtClean="0">
                <a:solidFill>
                  <a:srgbClr val="800000"/>
                </a:solidFill>
              </a:rPr>
              <a:t>δ</a:t>
            </a:r>
            <a:endParaRPr lang="en-US" sz="2400" dirty="0">
              <a:solidFill>
                <a:srgbClr val="80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1176000" y="4460557"/>
            <a:ext cx="609600" cy="492438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400" dirty="0" smtClean="0">
                <a:solidFill>
                  <a:srgbClr val="800000"/>
                </a:solidFill>
              </a:rPr>
              <a:t>3δ</a:t>
            </a:r>
            <a:endParaRPr lang="en-US" sz="24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7576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16-bit Adder Using 4-bit CLA Modules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23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3251200" y="1701800"/>
            <a:ext cx="2743200" cy="2909332"/>
            <a:chOff x="4343400" y="1657350"/>
            <a:chExt cx="2057400" cy="2181999"/>
          </a:xfrm>
        </p:grpSpPr>
        <p:sp>
          <p:nvSpPr>
            <p:cNvPr id="5" name="Rectangle 4"/>
            <p:cNvSpPr/>
            <p:nvPr/>
          </p:nvSpPr>
          <p:spPr>
            <a:xfrm>
              <a:off x="4343400" y="2419350"/>
              <a:ext cx="16764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4-bit CLA Adder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4572000" y="20383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Down Arrow 6"/>
            <p:cNvSpPr/>
            <p:nvPr/>
          </p:nvSpPr>
          <p:spPr>
            <a:xfrm>
              <a:off x="5334000" y="20383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Down Arrow 7"/>
            <p:cNvSpPr/>
            <p:nvPr/>
          </p:nvSpPr>
          <p:spPr>
            <a:xfrm>
              <a:off x="4953000" y="32575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19600" y="1657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r>
                <a:rPr lang="en-US" baseline="-25000" dirty="0" smtClean="0"/>
                <a:t>11</a:t>
              </a:r>
              <a:r>
                <a:rPr lang="en-US" dirty="0" smtClean="0"/>
                <a:t>-A</a:t>
              </a:r>
              <a:r>
                <a:rPr lang="en-US" baseline="-25000" dirty="0" smtClean="0"/>
                <a:t>8</a:t>
              </a:r>
              <a:endParaRPr lang="en-US" baseline="-25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76800" y="3562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r>
                <a:rPr lang="en-US" baseline="-25000" dirty="0" smtClean="0"/>
                <a:t>11</a:t>
              </a:r>
              <a:r>
                <a:rPr lang="en-US" dirty="0" smtClean="0"/>
                <a:t>-S</a:t>
              </a:r>
              <a:r>
                <a:rPr lang="en-US" baseline="-25000" dirty="0"/>
                <a:t>8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57800" y="1657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r>
                <a:rPr lang="en-US" baseline="-25000" dirty="0" smtClean="0"/>
                <a:t>11</a:t>
              </a:r>
              <a:r>
                <a:rPr lang="en-US" dirty="0" smtClean="0"/>
                <a:t>-B</a:t>
              </a:r>
              <a:r>
                <a:rPr lang="en-US" baseline="-25000" dirty="0" smtClean="0"/>
                <a:t>8</a:t>
              </a:r>
              <a:endParaRPr lang="en-US" baseline="-25000" dirty="0"/>
            </a:p>
          </p:txBody>
        </p:sp>
        <p:cxnSp>
          <p:nvCxnSpPr>
            <p:cNvPr id="14" name="Straight Arrow Connector 13"/>
            <p:cNvCxnSpPr>
              <a:endCxn id="5" idx="3"/>
            </p:cNvCxnSpPr>
            <p:nvPr/>
          </p:nvCxnSpPr>
          <p:spPr>
            <a:xfrm flipH="1">
              <a:off x="6019800" y="2800350"/>
              <a:ext cx="381000" cy="36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8737600" y="1701800"/>
            <a:ext cx="3657600" cy="2909332"/>
            <a:chOff x="4343400" y="1657350"/>
            <a:chExt cx="2743200" cy="2181999"/>
          </a:xfrm>
        </p:grpSpPr>
        <p:sp>
          <p:nvSpPr>
            <p:cNvPr id="18" name="Rectangle 17"/>
            <p:cNvSpPr/>
            <p:nvPr/>
          </p:nvSpPr>
          <p:spPr>
            <a:xfrm>
              <a:off x="4343400" y="2419350"/>
              <a:ext cx="16764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4-bit CLA Adder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4572000" y="20383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5334000" y="20383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4953000" y="32575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95800" y="1657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r>
                <a:rPr lang="en-US" baseline="-25000" dirty="0" smtClean="0"/>
                <a:t>3</a:t>
              </a:r>
              <a:r>
                <a:rPr lang="en-US" dirty="0" smtClean="0"/>
                <a:t>-A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876800" y="3562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  <a:r>
                <a:rPr lang="en-US" baseline="-25000" dirty="0" smtClean="0"/>
                <a:t>3</a:t>
              </a:r>
              <a:r>
                <a:rPr lang="en-US" dirty="0" smtClean="0"/>
                <a:t>-S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57800" y="1657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 smtClean="0"/>
                <a:t>3</a:t>
              </a:r>
              <a:r>
                <a:rPr lang="en-US" dirty="0" smtClean="0"/>
                <a:t>-B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  <p:cxnSp>
          <p:nvCxnSpPr>
            <p:cNvPr id="25" name="Straight Arrow Connector 24"/>
            <p:cNvCxnSpPr>
              <a:endCxn id="18" idx="3"/>
            </p:cNvCxnSpPr>
            <p:nvPr/>
          </p:nvCxnSpPr>
          <p:spPr>
            <a:xfrm flipH="1">
              <a:off x="6019800" y="2800350"/>
              <a:ext cx="381000" cy="36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6400800" y="2583418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994400" y="1701800"/>
            <a:ext cx="2743200" cy="2909332"/>
            <a:chOff x="4343400" y="1657350"/>
            <a:chExt cx="2057400" cy="2181999"/>
          </a:xfrm>
        </p:grpSpPr>
        <p:sp>
          <p:nvSpPr>
            <p:cNvPr id="28" name="Rectangle 27"/>
            <p:cNvSpPr/>
            <p:nvPr/>
          </p:nvSpPr>
          <p:spPr>
            <a:xfrm>
              <a:off x="4343400" y="2419350"/>
              <a:ext cx="16764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4-bit CLA Adder</a:t>
              </a:r>
            </a:p>
          </p:txBody>
        </p:sp>
        <p:sp>
          <p:nvSpPr>
            <p:cNvPr id="29" name="Down Arrow 28"/>
            <p:cNvSpPr/>
            <p:nvPr/>
          </p:nvSpPr>
          <p:spPr>
            <a:xfrm>
              <a:off x="4572000" y="20383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Down Arrow 29"/>
            <p:cNvSpPr/>
            <p:nvPr/>
          </p:nvSpPr>
          <p:spPr>
            <a:xfrm>
              <a:off x="5334000" y="20383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Down Arrow 30"/>
            <p:cNvSpPr/>
            <p:nvPr/>
          </p:nvSpPr>
          <p:spPr>
            <a:xfrm>
              <a:off x="4953000" y="32575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95800" y="1657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r>
                <a:rPr lang="en-US" baseline="-25000" dirty="0"/>
                <a:t>7</a:t>
              </a:r>
              <a:r>
                <a:rPr lang="en-US" dirty="0" smtClean="0"/>
                <a:t>-A</a:t>
              </a:r>
              <a:r>
                <a:rPr lang="en-US" baseline="-25000" dirty="0"/>
                <a:t>4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76800" y="3562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r>
                <a:rPr lang="en-US" baseline="-25000" dirty="0"/>
                <a:t>7</a:t>
              </a:r>
              <a:r>
                <a:rPr lang="en-US" dirty="0" smtClean="0"/>
                <a:t>-S</a:t>
              </a:r>
              <a:r>
                <a:rPr lang="en-US" baseline="-25000" dirty="0"/>
                <a:t>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257800" y="1657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r>
                <a:rPr lang="en-US" baseline="-25000" dirty="0"/>
                <a:t>7</a:t>
              </a:r>
              <a:r>
                <a:rPr lang="en-US" dirty="0" smtClean="0"/>
                <a:t>-B</a:t>
              </a:r>
              <a:r>
                <a:rPr lang="en-US" baseline="-25000" dirty="0"/>
                <a:t>4</a:t>
              </a:r>
            </a:p>
          </p:txBody>
        </p:sp>
        <p:cxnSp>
          <p:nvCxnSpPr>
            <p:cNvPr id="35" name="Straight Arrow Connector 34"/>
            <p:cNvCxnSpPr>
              <a:endCxn id="28" idx="3"/>
            </p:cNvCxnSpPr>
            <p:nvPr/>
          </p:nvCxnSpPr>
          <p:spPr>
            <a:xfrm flipH="1">
              <a:off x="6019800" y="2800350"/>
              <a:ext cx="381000" cy="36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508000" y="1701800"/>
            <a:ext cx="2743200" cy="2909332"/>
            <a:chOff x="4343400" y="1657350"/>
            <a:chExt cx="2057400" cy="2181999"/>
          </a:xfrm>
        </p:grpSpPr>
        <p:sp>
          <p:nvSpPr>
            <p:cNvPr id="38" name="Rectangle 37"/>
            <p:cNvSpPr/>
            <p:nvPr/>
          </p:nvSpPr>
          <p:spPr>
            <a:xfrm>
              <a:off x="4343400" y="2419350"/>
              <a:ext cx="16764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4-bit CLA Adder</a:t>
              </a:r>
            </a:p>
          </p:txBody>
        </p:sp>
        <p:sp>
          <p:nvSpPr>
            <p:cNvPr id="39" name="Down Arrow 38"/>
            <p:cNvSpPr/>
            <p:nvPr/>
          </p:nvSpPr>
          <p:spPr>
            <a:xfrm>
              <a:off x="4572000" y="20383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Down Arrow 39"/>
            <p:cNvSpPr/>
            <p:nvPr/>
          </p:nvSpPr>
          <p:spPr>
            <a:xfrm>
              <a:off x="5334000" y="20383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Down Arrow 40"/>
            <p:cNvSpPr/>
            <p:nvPr/>
          </p:nvSpPr>
          <p:spPr>
            <a:xfrm>
              <a:off x="4953000" y="3257550"/>
              <a:ext cx="457200" cy="381000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19600" y="1657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r>
                <a:rPr lang="en-US" baseline="-25000" dirty="0" smtClean="0"/>
                <a:t>15</a:t>
              </a:r>
              <a:r>
                <a:rPr lang="en-US" dirty="0" smtClean="0"/>
                <a:t>-A</a:t>
              </a:r>
              <a:r>
                <a:rPr lang="en-US" baseline="-25000" dirty="0" smtClean="0"/>
                <a:t>12</a:t>
              </a:r>
              <a:endParaRPr lang="en-US" baseline="-250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800600" y="3562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r>
                <a:rPr lang="en-US" baseline="-25000" dirty="0" smtClean="0"/>
                <a:t>15</a:t>
              </a:r>
              <a:r>
                <a:rPr lang="en-US" dirty="0" smtClean="0"/>
                <a:t>-S</a:t>
              </a:r>
              <a:r>
                <a:rPr lang="en-US" baseline="-25000" dirty="0" smtClean="0"/>
                <a:t>12</a:t>
              </a:r>
              <a:endParaRPr lang="en-US" baseline="-250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181600" y="16573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r>
                <a:rPr lang="en-US" baseline="-25000" dirty="0" smtClean="0"/>
                <a:t>15</a:t>
              </a:r>
              <a:r>
                <a:rPr lang="en-US" dirty="0" smtClean="0"/>
                <a:t>-B</a:t>
              </a:r>
              <a:r>
                <a:rPr lang="en-US" baseline="-25000" dirty="0" smtClean="0"/>
                <a:t>12</a:t>
              </a:r>
              <a:endParaRPr lang="en-US" baseline="-25000" dirty="0"/>
            </a:p>
          </p:txBody>
        </p:sp>
        <p:cxnSp>
          <p:nvCxnSpPr>
            <p:cNvPr id="45" name="Straight Arrow Connector 44"/>
            <p:cNvCxnSpPr>
              <a:endCxn id="38" idx="3"/>
            </p:cNvCxnSpPr>
            <p:nvPr/>
          </p:nvCxnSpPr>
          <p:spPr>
            <a:xfrm flipH="1">
              <a:off x="6019800" y="2800350"/>
              <a:ext cx="381000" cy="36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8229600" y="3225800"/>
            <a:ext cx="914400" cy="40010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dirty="0" smtClean="0"/>
              <a:t>C</a:t>
            </a:r>
            <a:r>
              <a:rPr lang="en-US" baseline="-25000" dirty="0"/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3225800"/>
            <a:ext cx="914400" cy="40010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dirty="0" smtClean="0"/>
              <a:t>C</a:t>
            </a:r>
            <a:r>
              <a:rPr lang="en-US" baseline="-25000" dirty="0"/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41600" y="3225800"/>
            <a:ext cx="812800" cy="40010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dirty="0" smtClean="0"/>
              <a:t>C</a:t>
            </a:r>
            <a:r>
              <a:rPr lang="en-US" baseline="-25000" dirty="0" smtClean="0"/>
              <a:t>12</a:t>
            </a:r>
            <a:endParaRPr lang="en-US" baseline="-25000" dirty="0"/>
          </a:p>
        </p:txBody>
      </p:sp>
      <p:cxnSp>
        <p:nvCxnSpPr>
          <p:cNvPr id="61" name="Straight Connector 60"/>
          <p:cNvCxnSpPr>
            <a:stCxn id="38" idx="1"/>
          </p:cNvCxnSpPr>
          <p:nvPr/>
        </p:nvCxnSpPr>
        <p:spPr>
          <a:xfrm flipH="1" flipV="1">
            <a:off x="203200" y="3225800"/>
            <a:ext cx="304800" cy="48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203200" y="3225800"/>
            <a:ext cx="0" cy="11176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0" y="4241800"/>
            <a:ext cx="914400" cy="40010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dirty="0" smtClean="0"/>
              <a:t>C</a:t>
            </a:r>
            <a:r>
              <a:rPr lang="en-US" baseline="-25000" dirty="0" smtClean="0"/>
              <a:t>16</a:t>
            </a:r>
            <a:endParaRPr lang="en-US" baseline="-25000" dirty="0"/>
          </a:p>
        </p:txBody>
      </p:sp>
      <p:sp>
        <p:nvSpPr>
          <p:cNvPr id="65" name="TextBox 64"/>
          <p:cNvSpPr txBox="1"/>
          <p:nvPr/>
        </p:nvSpPr>
        <p:spPr>
          <a:xfrm>
            <a:off x="406400" y="5156200"/>
            <a:ext cx="11277600" cy="53348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700" i="1" dirty="0">
                <a:solidFill>
                  <a:srgbClr val="800000"/>
                </a:solidFill>
              </a:rPr>
              <a:t>Problem: Carry propagation between modules still slows down the adder</a:t>
            </a:r>
          </a:p>
        </p:txBody>
      </p:sp>
    </p:spTree>
    <p:extLst>
      <p:ext uri="{BB962C8B-B14F-4D97-AF65-F5344CB8AC3E}">
        <p14:creationId xmlns:p14="http://schemas.microsoft.com/office/powerpoint/2010/main" val="16201522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3801"/>
            <a:ext cx="10972800" cy="4673600"/>
          </a:xfrm>
        </p:spPr>
        <p:txBody>
          <a:bodyPr/>
          <a:lstStyle/>
          <a:p>
            <a:r>
              <a:rPr lang="en-US" dirty="0" smtClean="0"/>
              <a:t>Solution:</a:t>
            </a:r>
          </a:p>
          <a:p>
            <a:pPr lvl="1"/>
            <a:r>
              <a:rPr lang="en-US" dirty="0" smtClean="0"/>
              <a:t>Use a second level of carry look-ahead mechanism to generate the input carries to the CLA blocks in parallel.</a:t>
            </a:r>
          </a:p>
          <a:p>
            <a:pPr lvl="1"/>
            <a:r>
              <a:rPr lang="en-US" dirty="0" smtClean="0"/>
              <a:t>The second level of CLA generates C4, C8, C12 and C16 in parallel with two gate delays (</a:t>
            </a:r>
            <a:r>
              <a:rPr lang="en-US" dirty="0" smtClean="0">
                <a:solidFill>
                  <a:srgbClr val="800000"/>
                </a:solidFill>
              </a:rPr>
              <a:t>2δ</a:t>
            </a:r>
            <a:r>
              <a:rPr lang="en-US" dirty="0" smtClean="0"/>
              <a:t>).</a:t>
            </a:r>
          </a:p>
          <a:p>
            <a:pPr lvl="1">
              <a:spcAft>
                <a:spcPts val="1800"/>
              </a:spcAft>
            </a:pPr>
            <a:r>
              <a:rPr lang="en-US" dirty="0" smtClean="0"/>
              <a:t>For larger values of </a:t>
            </a:r>
            <a:r>
              <a:rPr lang="en-US" dirty="0" smtClean="0">
                <a:solidFill>
                  <a:srgbClr val="800000"/>
                </a:solidFill>
              </a:rPr>
              <a:t>n</a:t>
            </a:r>
            <a:r>
              <a:rPr lang="en-US" dirty="0" smtClean="0"/>
              <a:t>, more CLA levels can be added.</a:t>
            </a:r>
          </a:p>
          <a:p>
            <a:r>
              <a:rPr lang="en-US" dirty="0" smtClean="0"/>
              <a:t>Delay calculation of a 16-bit adder:</a:t>
            </a:r>
          </a:p>
          <a:p>
            <a:pPr marL="1079473" lvl="1" indent="-469888">
              <a:buFont typeface="+mj-lt"/>
              <a:buAutoNum type="alphaLcParenR"/>
            </a:pPr>
            <a:r>
              <a:rPr lang="en-US" dirty="0" smtClean="0"/>
              <a:t>For original single-level CLA:	  </a:t>
            </a:r>
            <a:r>
              <a:rPr lang="en-US" dirty="0" smtClean="0">
                <a:solidFill>
                  <a:srgbClr val="800000"/>
                </a:solidFill>
              </a:rPr>
              <a:t>14δ</a:t>
            </a:r>
          </a:p>
          <a:p>
            <a:pPr marL="1079473" lvl="1" indent="-469888">
              <a:buFont typeface="+mj-lt"/>
              <a:buAutoNum type="alphaLcParenR"/>
            </a:pPr>
            <a:r>
              <a:rPr lang="en-US" dirty="0" smtClean="0"/>
              <a:t>For modified two-level CLA:	  </a:t>
            </a:r>
            <a:r>
              <a:rPr lang="en-US" dirty="0" smtClean="0">
                <a:solidFill>
                  <a:srgbClr val="800000"/>
                </a:solidFill>
              </a:rPr>
              <a:t>10δ</a:t>
            </a:r>
            <a:endParaRPr lang="en-US" dirty="0">
              <a:solidFill>
                <a:srgbClr val="800000"/>
              </a:solidFill>
            </a:endParaRPr>
          </a:p>
          <a:p>
            <a:pPr marL="60958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1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Delay of a k-bit Adder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728461"/>
              </p:ext>
            </p:extLst>
          </p:nvPr>
        </p:nvGraphicFramePr>
        <p:xfrm>
          <a:off x="406400" y="1803400"/>
          <a:ext cx="5486400" cy="3576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/>
                <a:gridCol w="1828800"/>
                <a:gridCol w="19304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n</a:t>
                      </a:r>
                      <a:endParaRPr lang="en-US" sz="32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r>
                        <a:rPr lang="en-US" sz="3200" baseline="-25000" dirty="0" smtClean="0"/>
                        <a:t>CLA</a:t>
                      </a:r>
                      <a:endParaRPr lang="en-US" sz="3200" baseline="-25000" dirty="0"/>
                    </a:p>
                  </a:txBody>
                  <a:tcPr marL="121920" marR="121920" marT="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r>
                        <a:rPr lang="en-US" sz="3200" baseline="-25000" dirty="0" smtClean="0"/>
                        <a:t>RCA</a:t>
                      </a:r>
                      <a:endParaRPr lang="en-US" sz="3200" baseline="-25000" dirty="0"/>
                    </a:p>
                  </a:txBody>
                  <a:tcPr marL="121920" marR="121920" marT="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8δ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9δ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16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10δ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33δ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32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12δ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65δ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64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12δ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129δ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128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14δ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257δ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256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14δ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513δ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05600" y="2711848"/>
            <a:ext cx="4470400" cy="553994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800" dirty="0"/>
              <a:t>T</a:t>
            </a:r>
            <a:r>
              <a:rPr lang="en-US" sz="2800" baseline="-25000" dirty="0"/>
              <a:t>CLA</a:t>
            </a:r>
            <a:r>
              <a:rPr lang="en-US" sz="2800" dirty="0"/>
              <a:t>  =    (6 +  2 log</a:t>
            </a:r>
            <a:r>
              <a:rPr lang="en-US" sz="2800" baseline="-25000" dirty="0"/>
              <a:t>4</a:t>
            </a:r>
            <a:r>
              <a:rPr lang="en-US" sz="2800" dirty="0"/>
              <a:t> n ) </a:t>
            </a:r>
            <a:r>
              <a:rPr lang="en-US" sz="2800" dirty="0" err="1"/>
              <a:t>δ</a:t>
            </a:r>
            <a:endParaRPr lang="en-US" sz="28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8934350" y="2711847"/>
            <a:ext cx="203200" cy="508000"/>
            <a:chOff x="5334000" y="2952750"/>
            <a:chExt cx="152400" cy="381000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5334000" y="2952750"/>
              <a:ext cx="0" cy="381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334000" y="2952750"/>
              <a:ext cx="1524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9647550" y="2711847"/>
            <a:ext cx="203200" cy="508000"/>
            <a:chOff x="5867400" y="3105150"/>
            <a:chExt cx="152400" cy="381000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6019800" y="3105150"/>
              <a:ext cx="0" cy="3810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867400" y="3105150"/>
              <a:ext cx="15240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6705600" y="3626248"/>
            <a:ext cx="4470400" cy="553994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800" dirty="0"/>
              <a:t>T</a:t>
            </a:r>
            <a:r>
              <a:rPr lang="en-US" sz="2800" baseline="-25000" dirty="0"/>
              <a:t>RCA</a:t>
            </a:r>
            <a:r>
              <a:rPr lang="en-US" sz="2800" dirty="0"/>
              <a:t>  =    (2n + 1) </a:t>
            </a:r>
            <a:r>
              <a:rPr lang="en-US" sz="2800" dirty="0" err="1"/>
              <a:t>δ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499933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Carry Select 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Basically consists of two parallel adders (say, ripple-carry adder) and a multiplexer.</a:t>
            </a:r>
          </a:p>
          <a:p>
            <a:r>
              <a:rPr lang="en-US" dirty="0" smtClean="0"/>
              <a:t>For two given numbers </a:t>
            </a:r>
            <a:r>
              <a:rPr lang="en-US" dirty="0" smtClean="0">
                <a:solidFill>
                  <a:srgbClr val="80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800000"/>
                </a:solidFill>
              </a:rPr>
              <a:t>B</a:t>
            </a:r>
            <a:r>
              <a:rPr lang="en-US" dirty="0" smtClean="0"/>
              <a:t>, we carry out addition twice:</a:t>
            </a:r>
          </a:p>
          <a:p>
            <a:pPr lvl="1"/>
            <a:r>
              <a:rPr lang="en-US" dirty="0" smtClean="0"/>
              <a:t>With carry-in as 0</a:t>
            </a:r>
          </a:p>
          <a:p>
            <a:pPr lvl="1"/>
            <a:r>
              <a:rPr lang="en-US" dirty="0" smtClean="0"/>
              <a:t>With carry-in as 1</a:t>
            </a:r>
          </a:p>
          <a:p>
            <a:r>
              <a:rPr lang="en-US" dirty="0" smtClean="0"/>
              <a:t>Once the correct carry-in is known, the correct sum is selected by a multiplexer.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769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685801"/>
            <a:ext cx="5791200" cy="4874260"/>
          </a:xfrm>
          <a:prstGeom prst="rect">
            <a:avLst/>
          </a:prstGeom>
          <a:ln w="25400">
            <a:solidFill>
              <a:srgbClr val="8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03200" y="787400"/>
            <a:ext cx="5080000" cy="1600437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3200" b="1" dirty="0"/>
              <a:t>Basic building block of a carry-select adder, with block size of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200" y="2717800"/>
            <a:ext cx="4978400" cy="1231102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marL="380990" indent="-380990">
              <a:buFont typeface="Arial"/>
              <a:buChar char="•"/>
            </a:pPr>
            <a:r>
              <a:rPr lang="en-US" sz="2400" dirty="0" smtClean="0"/>
              <a:t>For a multi-bit adder, the number of bits in each carry select block can be either uniform or variable.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16243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757261"/>
            <a:ext cx="11988800" cy="2906939"/>
          </a:xfrm>
          <a:prstGeom prst="rect">
            <a:avLst/>
          </a:prstGeom>
          <a:ln w="25400">
            <a:solidFill>
              <a:srgbClr val="8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8000" y="584201"/>
            <a:ext cx="10871200" cy="1954377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700" b="1" dirty="0"/>
              <a:t>Uniform sized adder</a:t>
            </a:r>
          </a:p>
          <a:p>
            <a:pPr marL="380990" indent="-380990">
              <a:spcAft>
                <a:spcPts val="800"/>
              </a:spcAft>
              <a:buFont typeface="Arial"/>
              <a:buChar char="•"/>
            </a:pPr>
            <a:r>
              <a:rPr lang="en-US" sz="2400" dirty="0" smtClean="0"/>
              <a:t>A 16-bit carry select adder with a uniform block size of 4 is shown.</a:t>
            </a:r>
          </a:p>
          <a:p>
            <a:pPr marL="380990" indent="-380990">
              <a:spcAft>
                <a:spcPts val="800"/>
              </a:spcAft>
              <a:buFont typeface="Arial"/>
              <a:buChar char="•"/>
            </a:pPr>
            <a:r>
              <a:rPr lang="en-US" sz="2400" dirty="0" smtClean="0"/>
              <a:t>The least significant block needs a single adder (since the carry-in is known).</a:t>
            </a:r>
          </a:p>
          <a:p>
            <a:pPr marL="380990" indent="-380990">
              <a:spcAft>
                <a:spcPts val="800"/>
              </a:spcAft>
              <a:buFont typeface="Arial"/>
              <a:buChar char="•"/>
            </a:pPr>
            <a:r>
              <a:rPr lang="en-US" sz="2400" dirty="0" smtClean="0"/>
              <a:t>Total delay is 4 full adder delays, plus 3 MUX delays.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63237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08000" y="584200"/>
            <a:ext cx="10871200" cy="148245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700" b="1" dirty="0"/>
              <a:t>Variable-sized adder</a:t>
            </a:r>
          </a:p>
          <a:p>
            <a:pPr marL="380990" indent="-380990">
              <a:spcAft>
                <a:spcPts val="800"/>
              </a:spcAft>
              <a:buFont typeface="Arial"/>
              <a:buChar char="•"/>
            </a:pPr>
            <a:r>
              <a:rPr lang="en-US" sz="2400" dirty="0" smtClean="0"/>
              <a:t>A 16-bit carry select adder with variable block sizes of 2-2-3-4-5  is shown.</a:t>
            </a:r>
          </a:p>
          <a:p>
            <a:pPr marL="380990" indent="-380990">
              <a:spcAft>
                <a:spcPts val="800"/>
              </a:spcAft>
              <a:buFont typeface="Arial"/>
              <a:buChar char="•"/>
            </a:pPr>
            <a:r>
              <a:rPr lang="en-US" sz="2400" dirty="0" smtClean="0"/>
              <a:t>Total delay is 2 full adder delays, plus 4 MUX delays.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989000"/>
            <a:ext cx="11988800" cy="2776801"/>
          </a:xfrm>
          <a:prstGeom prst="rect">
            <a:avLst/>
          </a:prstGeom>
          <a:ln w="25400">
            <a:solidFill>
              <a:srgbClr val="800000"/>
            </a:solidFill>
          </a:ln>
        </p:spPr>
      </p:pic>
    </p:spTree>
    <p:extLst>
      <p:ext uri="{BB962C8B-B14F-4D97-AF65-F5344CB8AC3E}">
        <p14:creationId xmlns:p14="http://schemas.microsoft.com/office/powerpoint/2010/main" val="20447312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Carry Save 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 smtClean="0"/>
              <a:t>Here we add three operands (say, </a:t>
            </a:r>
            <a:r>
              <a:rPr lang="en-US" dirty="0" smtClean="0">
                <a:solidFill>
                  <a:srgbClr val="800000"/>
                </a:solidFill>
              </a:rPr>
              <a:t>X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800000"/>
                </a:solidFill>
              </a:rPr>
              <a:t>Y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800000"/>
                </a:solidFill>
              </a:rPr>
              <a:t>Z</a:t>
            </a:r>
            <a:r>
              <a:rPr lang="en-US" dirty="0" smtClean="0"/>
              <a:t>) together.</a:t>
            </a:r>
          </a:p>
          <a:p>
            <a:r>
              <a:rPr lang="en-US" dirty="0" smtClean="0"/>
              <a:t>For adding multiple numbers, we have to construct a tree of carry save adders.</a:t>
            </a:r>
          </a:p>
          <a:p>
            <a:pPr lvl="1">
              <a:spcAft>
                <a:spcPts val="1200"/>
              </a:spcAft>
            </a:pPr>
            <a:r>
              <a:rPr lang="en-US" dirty="0" smtClean="0"/>
              <a:t>Used in combinational multiplier design.</a:t>
            </a:r>
          </a:p>
          <a:p>
            <a:pPr>
              <a:spcAft>
                <a:spcPts val="1200"/>
              </a:spcAft>
            </a:pPr>
            <a:r>
              <a:rPr lang="en-US" dirty="0" smtClean="0"/>
              <a:t>Each carry save adder is simply an independent full adder without carry propagation.</a:t>
            </a:r>
          </a:p>
          <a:p>
            <a:r>
              <a:rPr lang="en-US" dirty="0" smtClean="0"/>
              <a:t>A parallel adder is required only at the last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696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800000"/>
                </a:solidFill>
              </a:rPr>
              <a:t>An illustrative example:</a:t>
            </a:r>
            <a:endParaRPr lang="en-US" b="1" dirty="0">
              <a:solidFill>
                <a:srgbClr val="8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480047"/>
              </p:ext>
            </p:extLst>
          </p:nvPr>
        </p:nvGraphicFramePr>
        <p:xfrm>
          <a:off x="609600" y="2583594"/>
          <a:ext cx="3048000" cy="1759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" name="Visio" r:id="rId3" imgW="1244430" imgH="719767" progId="Visio.Drawing.6">
                  <p:embed/>
                </p:oleObj>
              </mc:Choice>
              <mc:Fallback>
                <p:oleObj name="Visio" r:id="rId3" imgW="1244430" imgH="71976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83594"/>
                        <a:ext cx="3048000" cy="17598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144268"/>
              </p:ext>
            </p:extLst>
          </p:nvPr>
        </p:nvGraphicFramePr>
        <p:xfrm>
          <a:off x="4064002" y="2514600"/>
          <a:ext cx="3162301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" name="Visio" r:id="rId5" imgW="1244430" imgH="719767" progId="Visio.Drawing.6">
                  <p:embed/>
                </p:oleObj>
              </mc:Choice>
              <mc:Fallback>
                <p:oleObj name="Visio" r:id="rId5" imgW="1244430" imgH="71976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2" y="2514600"/>
                        <a:ext cx="3162301" cy="1828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723012"/>
              </p:ext>
            </p:extLst>
          </p:nvPr>
        </p:nvGraphicFramePr>
        <p:xfrm>
          <a:off x="8192200" y="1701801"/>
          <a:ext cx="3187001" cy="2691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" name="Visio" r:id="rId7" imgW="1282770" imgH="1083693" progId="Visio.Drawing.6">
                  <p:embed/>
                </p:oleObj>
              </mc:Choice>
              <mc:Fallback>
                <p:oleObj name="Visio" r:id="rId7" imgW="1282770" imgH="108369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2200" y="1701801"/>
                        <a:ext cx="3187001" cy="2691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7600" y="4445000"/>
            <a:ext cx="5384800" cy="95410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700" dirty="0">
                <a:solidFill>
                  <a:srgbClr val="000090"/>
                </a:solidFill>
              </a:rPr>
              <a:t>A set of full adders generate carry and sum bits in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3600" y="4445000"/>
            <a:ext cx="4978400" cy="95410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700" dirty="0">
                <a:solidFill>
                  <a:srgbClr val="000090"/>
                </a:solidFill>
              </a:rPr>
              <a:t>The sum and carry vectors are added later (with proper shifting)</a:t>
            </a:r>
          </a:p>
        </p:txBody>
      </p:sp>
    </p:spTree>
    <p:extLst>
      <p:ext uri="{BB962C8B-B14F-4D97-AF65-F5344CB8AC3E}">
        <p14:creationId xmlns:p14="http://schemas.microsoft.com/office/powerpoint/2010/main" val="2975651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n-bit Carry Save Adder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32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8737600" y="1498600"/>
            <a:ext cx="1727200" cy="3112532"/>
            <a:chOff x="2438400" y="1504950"/>
            <a:chExt cx="1295400" cy="2334399"/>
          </a:xfrm>
        </p:grpSpPr>
        <p:sp>
          <p:nvSpPr>
            <p:cNvPr id="5" name="Rectangle 4"/>
            <p:cNvSpPr/>
            <p:nvPr/>
          </p:nvSpPr>
          <p:spPr>
            <a:xfrm>
              <a:off x="2438400" y="2343150"/>
              <a:ext cx="11430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Full Adder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26670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30480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33528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276600" y="31813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667000" y="31813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124200" y="35623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14600" y="35623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00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19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146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X</a:t>
              </a:r>
              <a:r>
                <a:rPr lang="en-US" baseline="-25000" dirty="0" smtClean="0"/>
                <a:t>0</a:t>
              </a:r>
              <a:endParaRPr lang="en-US" baseline="-250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807200" y="1498600"/>
            <a:ext cx="1727200" cy="3112532"/>
            <a:chOff x="2438400" y="1504950"/>
            <a:chExt cx="1295400" cy="2334399"/>
          </a:xfrm>
        </p:grpSpPr>
        <p:sp>
          <p:nvSpPr>
            <p:cNvPr id="19" name="Rectangle 18"/>
            <p:cNvSpPr/>
            <p:nvPr/>
          </p:nvSpPr>
          <p:spPr>
            <a:xfrm>
              <a:off x="2438400" y="2343150"/>
              <a:ext cx="11430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Full Adder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26670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30480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33528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3276600" y="31813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2667000" y="31813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3124200" y="35623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514600" y="35623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00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Z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19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Y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5146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X</a:t>
              </a:r>
              <a:r>
                <a:rPr lang="en-US" baseline="-25000" dirty="0"/>
                <a:t>1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876800" y="1498600"/>
            <a:ext cx="1727200" cy="3112532"/>
            <a:chOff x="2438400" y="1504950"/>
            <a:chExt cx="1295400" cy="2334399"/>
          </a:xfrm>
        </p:grpSpPr>
        <p:sp>
          <p:nvSpPr>
            <p:cNvPr id="31" name="Rectangle 30"/>
            <p:cNvSpPr/>
            <p:nvPr/>
          </p:nvSpPr>
          <p:spPr>
            <a:xfrm>
              <a:off x="2438400" y="2343150"/>
              <a:ext cx="11430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Full Adder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26670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30480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3528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3276600" y="31813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2667000" y="31813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124200" y="35623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14600" y="35623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00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Z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819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Y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5146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X</a:t>
              </a:r>
              <a:r>
                <a:rPr lang="en-US" baseline="-25000" dirty="0"/>
                <a:t>2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828800" y="1498600"/>
            <a:ext cx="1727200" cy="3112532"/>
            <a:chOff x="2438400" y="1504950"/>
            <a:chExt cx="1295400" cy="2334399"/>
          </a:xfrm>
        </p:grpSpPr>
        <p:sp>
          <p:nvSpPr>
            <p:cNvPr id="43" name="Rectangle 42"/>
            <p:cNvSpPr/>
            <p:nvPr/>
          </p:nvSpPr>
          <p:spPr>
            <a:xfrm>
              <a:off x="2438400" y="2343150"/>
              <a:ext cx="1143000" cy="838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Full Adder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26670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30480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3352800" y="18859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3276600" y="31813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2667000" y="31813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3124200" y="35623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r>
                <a:rPr lang="en-US" baseline="-25000" dirty="0" smtClean="0"/>
                <a:t>n-1</a:t>
              </a:r>
              <a:endParaRPr lang="en-US" baseline="-250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514600" y="35623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r>
                <a:rPr lang="en-US" baseline="-25000" dirty="0" smtClean="0"/>
                <a:t>n-1</a:t>
              </a:r>
              <a:endParaRPr lang="en-US" baseline="-250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200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Z</a:t>
              </a:r>
              <a:r>
                <a:rPr lang="en-US" baseline="-25000" dirty="0" smtClean="0"/>
                <a:t>n-1</a:t>
              </a:r>
              <a:endParaRPr lang="en-US" baseline="-250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819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Y</a:t>
              </a:r>
              <a:r>
                <a:rPr lang="en-US" baseline="-25000" dirty="0" smtClean="0"/>
                <a:t>n-1</a:t>
              </a:r>
              <a:endParaRPr lang="en-US" baseline="-250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438400" y="15049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X</a:t>
              </a:r>
              <a:r>
                <a:rPr lang="en-US" baseline="-25000" dirty="0" smtClean="0"/>
                <a:t>n-1</a:t>
              </a:r>
              <a:endParaRPr lang="en-US" baseline="-25000" dirty="0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3759200" y="2616200"/>
            <a:ext cx="1625600" cy="779701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4300" b="1" dirty="0"/>
              <a:t>….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6800" y="4953001"/>
            <a:ext cx="6705600" cy="86177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The carry input of the full adder is used as the third input</a:t>
            </a:r>
            <a:endParaRPr lang="en-US" sz="24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8701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2601"/>
            <a:ext cx="4978400" cy="812801"/>
          </a:xfrm>
        </p:spPr>
        <p:txBody>
          <a:bodyPr>
            <a:normAutofit fontScale="90000"/>
          </a:bodyPr>
          <a:lstStyle/>
          <a:p>
            <a:r>
              <a:rPr lang="en-US" sz="3700" dirty="0"/>
              <a:t>Adding m Numbers: Some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33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9347200" y="584200"/>
            <a:ext cx="1320800" cy="1422400"/>
            <a:chOff x="2057400" y="2190750"/>
            <a:chExt cx="990600" cy="1066800"/>
          </a:xfrm>
        </p:grpSpPr>
        <p:sp>
          <p:nvSpPr>
            <p:cNvPr id="5" name="Rectangle 4"/>
            <p:cNvSpPr/>
            <p:nvPr/>
          </p:nvSpPr>
          <p:spPr>
            <a:xfrm>
              <a:off x="2057400" y="2495550"/>
              <a:ext cx="9906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CSA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2209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25560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28956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2362200" y="2952750"/>
              <a:ext cx="0" cy="252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743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7823200" y="4241800"/>
            <a:ext cx="2235200" cy="1422400"/>
            <a:chOff x="4800600" y="2266950"/>
            <a:chExt cx="1676400" cy="1066800"/>
          </a:xfrm>
        </p:grpSpPr>
        <p:sp>
          <p:nvSpPr>
            <p:cNvPr id="13" name="Rectangle 12"/>
            <p:cNvSpPr/>
            <p:nvPr/>
          </p:nvSpPr>
          <p:spPr>
            <a:xfrm>
              <a:off x="4800600" y="2571750"/>
              <a:ext cx="16764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Parallel Adder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5257800" y="2266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57800" y="3028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019800" y="3028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8026400" y="3225800"/>
            <a:ext cx="1320800" cy="1422400"/>
            <a:chOff x="2057400" y="2190750"/>
            <a:chExt cx="990600" cy="1066800"/>
          </a:xfrm>
        </p:grpSpPr>
        <p:sp>
          <p:nvSpPr>
            <p:cNvPr id="20" name="Rectangle 19"/>
            <p:cNvSpPr/>
            <p:nvPr/>
          </p:nvSpPr>
          <p:spPr>
            <a:xfrm>
              <a:off x="2057400" y="2495550"/>
              <a:ext cx="9906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CSA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2209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2590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28956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2362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2743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7620000" y="584200"/>
            <a:ext cx="1320800" cy="1422400"/>
            <a:chOff x="2057400" y="2190750"/>
            <a:chExt cx="990600" cy="1066800"/>
          </a:xfrm>
        </p:grpSpPr>
        <p:sp>
          <p:nvSpPr>
            <p:cNvPr id="27" name="Rectangle 26"/>
            <p:cNvSpPr/>
            <p:nvPr/>
          </p:nvSpPr>
          <p:spPr>
            <a:xfrm>
              <a:off x="2057400" y="2495550"/>
              <a:ext cx="9906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CSA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2209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25560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28956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2362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2743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572000" y="3022600"/>
            <a:ext cx="1320800" cy="1422400"/>
            <a:chOff x="2057400" y="2190750"/>
            <a:chExt cx="990600" cy="1066800"/>
          </a:xfrm>
        </p:grpSpPr>
        <p:sp>
          <p:nvSpPr>
            <p:cNvPr id="34" name="Rectangle 33"/>
            <p:cNvSpPr/>
            <p:nvPr/>
          </p:nvSpPr>
          <p:spPr>
            <a:xfrm>
              <a:off x="2057400" y="2495550"/>
              <a:ext cx="9906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CSA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2209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2590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28956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362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2743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4368800" y="1701800"/>
            <a:ext cx="1320800" cy="1422400"/>
            <a:chOff x="2057400" y="2190750"/>
            <a:chExt cx="990600" cy="1066800"/>
          </a:xfrm>
        </p:grpSpPr>
        <p:sp>
          <p:nvSpPr>
            <p:cNvPr id="41" name="Rectangle 40"/>
            <p:cNvSpPr/>
            <p:nvPr/>
          </p:nvSpPr>
          <p:spPr>
            <a:xfrm>
              <a:off x="2057400" y="2495550"/>
              <a:ext cx="9906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CSA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>
              <a:off x="2209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25560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28956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2362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2743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812800" y="2921000"/>
            <a:ext cx="1320800" cy="1422400"/>
            <a:chOff x="2057400" y="2190750"/>
            <a:chExt cx="990600" cy="1066800"/>
          </a:xfrm>
        </p:grpSpPr>
        <p:sp>
          <p:nvSpPr>
            <p:cNvPr id="48" name="Rectangle 47"/>
            <p:cNvSpPr/>
            <p:nvPr/>
          </p:nvSpPr>
          <p:spPr>
            <a:xfrm>
              <a:off x="2057400" y="2495550"/>
              <a:ext cx="9906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CSA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>
              <a:off x="2209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25560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28956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2362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2743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4165600" y="4038600"/>
            <a:ext cx="2235200" cy="1422400"/>
            <a:chOff x="4800600" y="2266950"/>
            <a:chExt cx="1676400" cy="1066800"/>
          </a:xfrm>
        </p:grpSpPr>
        <p:sp>
          <p:nvSpPr>
            <p:cNvPr id="55" name="Rectangle 54"/>
            <p:cNvSpPr/>
            <p:nvPr/>
          </p:nvSpPr>
          <p:spPr>
            <a:xfrm>
              <a:off x="4800600" y="2571750"/>
              <a:ext cx="16764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Parallel Adder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5410200" y="2266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5791200" y="2266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5257800" y="3028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>
              <a:off x="6019800" y="3028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406400" y="3937000"/>
            <a:ext cx="2235200" cy="1422400"/>
            <a:chOff x="4800600" y="2266950"/>
            <a:chExt cx="1676400" cy="1066800"/>
          </a:xfrm>
        </p:grpSpPr>
        <p:sp>
          <p:nvSpPr>
            <p:cNvPr id="61" name="Rectangle 60"/>
            <p:cNvSpPr/>
            <p:nvPr/>
          </p:nvSpPr>
          <p:spPr>
            <a:xfrm>
              <a:off x="4800600" y="2571750"/>
              <a:ext cx="16764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Parallel Adder</a:t>
              </a:r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>
              <a:off x="5410200" y="2266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791200" y="2266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5257800" y="3028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6019800" y="30289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/>
          <p:cNvSpPr txBox="1"/>
          <p:nvPr/>
        </p:nvSpPr>
        <p:spPr>
          <a:xfrm>
            <a:off x="939301" y="5814387"/>
            <a:ext cx="1219200" cy="533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700" b="1" dirty="0">
                <a:solidFill>
                  <a:srgbClr val="800000"/>
                </a:solidFill>
              </a:rPr>
              <a:t>m = 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39707" y="5818375"/>
            <a:ext cx="1219200" cy="533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700" b="1" dirty="0">
                <a:solidFill>
                  <a:srgbClr val="800000"/>
                </a:solidFill>
              </a:rPr>
              <a:t>m = 4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7823200" y="1905000"/>
            <a:ext cx="1320800" cy="1422400"/>
            <a:chOff x="2057400" y="2190750"/>
            <a:chExt cx="990600" cy="1066800"/>
          </a:xfrm>
        </p:grpSpPr>
        <p:sp>
          <p:nvSpPr>
            <p:cNvPr id="70" name="Rectangle 69"/>
            <p:cNvSpPr/>
            <p:nvPr/>
          </p:nvSpPr>
          <p:spPr>
            <a:xfrm>
              <a:off x="2057400" y="2495550"/>
              <a:ext cx="9906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rgbClr val="000090"/>
                  </a:solidFill>
                </a:rPr>
                <a:t>CSA</a:t>
              </a:r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>
              <a:off x="2209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25908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2895600" y="2190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2362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>
              <a:off x="2743200" y="29527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/>
          <p:cNvCxnSpPr/>
          <p:nvPr/>
        </p:nvCxnSpPr>
        <p:spPr>
          <a:xfrm>
            <a:off x="8940800" y="1905000"/>
            <a:ext cx="812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9144000" y="3225800"/>
            <a:ext cx="11176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10261600" y="2006600"/>
            <a:ext cx="0" cy="12192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316882" y="5806477"/>
            <a:ext cx="1219200" cy="533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700" b="1" dirty="0">
                <a:solidFill>
                  <a:srgbClr val="800000"/>
                </a:solidFill>
              </a:rPr>
              <a:t>m = 6</a:t>
            </a:r>
          </a:p>
        </p:txBody>
      </p:sp>
    </p:spTree>
    <p:extLst>
      <p:ext uri="{BB962C8B-B14F-4D97-AF65-F5344CB8AC3E}">
        <p14:creationId xmlns:p14="http://schemas.microsoft.com/office/powerpoint/2010/main" val="3668457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8" grpId="0" animBg="1"/>
      <p:bldP spid="8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Generating the Status Flags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Many contemporary processors have a flag register that contains the status of the last arithmetic / logic operation.</a:t>
            </a:r>
          </a:p>
          <a:p>
            <a:pPr lvl="1"/>
            <a:r>
              <a:rPr lang="en-US" b="1" dirty="0" smtClean="0">
                <a:solidFill>
                  <a:srgbClr val="800000"/>
                </a:solidFill>
              </a:rPr>
              <a:t>Zero (Z)</a:t>
            </a:r>
            <a:r>
              <a:rPr lang="en-US" dirty="0" smtClean="0"/>
              <a:t>: tells whether the result is zero.</a:t>
            </a:r>
          </a:p>
          <a:p>
            <a:pPr lvl="2"/>
            <a:r>
              <a:rPr lang="en-US" dirty="0" smtClean="0"/>
              <a:t>Can be used for both arithmetic and logic operations.</a:t>
            </a:r>
          </a:p>
          <a:p>
            <a:pPr lvl="1"/>
            <a:r>
              <a:rPr lang="en-US" b="1" dirty="0" smtClean="0">
                <a:solidFill>
                  <a:srgbClr val="800000"/>
                </a:solidFill>
              </a:rPr>
              <a:t>Sign (S)</a:t>
            </a:r>
            <a:r>
              <a:rPr lang="en-US" dirty="0" smtClean="0"/>
              <a:t>: tells whether the result is positive (=0) or negative (=1).</a:t>
            </a:r>
          </a:p>
          <a:p>
            <a:pPr lvl="2"/>
            <a:r>
              <a:rPr lang="en-US" dirty="0" smtClean="0"/>
              <a:t>Can be used for both arithmetic and logic operations.</a:t>
            </a:r>
          </a:p>
          <a:p>
            <a:pPr lvl="1"/>
            <a:r>
              <a:rPr lang="en-US" b="1" dirty="0" smtClean="0">
                <a:solidFill>
                  <a:srgbClr val="800000"/>
                </a:solidFill>
              </a:rPr>
              <a:t>Carry (C)</a:t>
            </a:r>
            <a:r>
              <a:rPr lang="en-US" dirty="0" smtClean="0"/>
              <a:t>: tells whether there has been a carry out of the most significant stage.</a:t>
            </a:r>
          </a:p>
          <a:p>
            <a:pPr lvl="2"/>
            <a:r>
              <a:rPr lang="en-US" dirty="0" smtClean="0"/>
              <a:t>Used only for arithmetic operations.</a:t>
            </a:r>
          </a:p>
          <a:p>
            <a:pPr lvl="1"/>
            <a:r>
              <a:rPr lang="en-US" b="1" dirty="0" smtClean="0">
                <a:solidFill>
                  <a:srgbClr val="800000"/>
                </a:solidFill>
              </a:rPr>
              <a:t>Overflow (V)</a:t>
            </a:r>
            <a:r>
              <a:rPr lang="en-US" dirty="0" smtClean="0"/>
              <a:t>: tells whether the result is too large to fit in the target register.</a:t>
            </a:r>
          </a:p>
          <a:p>
            <a:pPr lvl="2"/>
            <a:r>
              <a:rPr lang="en-US" dirty="0" smtClean="0"/>
              <a:t>Used only for arithmetic operations (addition and subtraction).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87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35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203200" y="584200"/>
            <a:ext cx="2032000" cy="2844800"/>
            <a:chOff x="3352800" y="590550"/>
            <a:chExt cx="1524000" cy="2133600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 rot="16200000">
              <a:off x="3823464" y="1032091"/>
              <a:ext cx="611795" cy="1248322"/>
            </a:xfrm>
            <a:custGeom>
              <a:avLst/>
              <a:gdLst>
                <a:gd name="T0" fmla="*/ 600075 w 47"/>
                <a:gd name="T1" fmla="*/ 0 h 75"/>
                <a:gd name="T2" fmla="*/ 600075 w 47"/>
                <a:gd name="T3" fmla="*/ 420497 h 75"/>
                <a:gd name="T4" fmla="*/ 485167 w 47"/>
                <a:gd name="T5" fmla="*/ 471466 h 75"/>
                <a:gd name="T6" fmla="*/ 600075 w 47"/>
                <a:gd name="T7" fmla="*/ 535178 h 75"/>
                <a:gd name="T8" fmla="*/ 600075 w 47"/>
                <a:gd name="T9" fmla="*/ 955675 h 75"/>
                <a:gd name="T10" fmla="*/ 0 w 47"/>
                <a:gd name="T11" fmla="*/ 764540 h 75"/>
                <a:gd name="T12" fmla="*/ 0 w 47"/>
                <a:gd name="T13" fmla="*/ 178393 h 75"/>
                <a:gd name="T14" fmla="*/ 600075 w 47"/>
                <a:gd name="T15" fmla="*/ 0 h 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"/>
                <a:gd name="T25" fmla="*/ 0 h 75"/>
                <a:gd name="T26" fmla="*/ 47 w 47"/>
                <a:gd name="T27" fmla="*/ 75 h 7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" h="75">
                  <a:moveTo>
                    <a:pt x="47" y="0"/>
                  </a:moveTo>
                  <a:lnTo>
                    <a:pt x="47" y="33"/>
                  </a:lnTo>
                  <a:lnTo>
                    <a:pt x="38" y="37"/>
                  </a:lnTo>
                  <a:lnTo>
                    <a:pt x="47" y="42"/>
                  </a:lnTo>
                  <a:lnTo>
                    <a:pt x="47" y="75"/>
                  </a:lnTo>
                  <a:lnTo>
                    <a:pt x="0" y="60"/>
                  </a:lnTo>
                  <a:lnTo>
                    <a:pt x="0" y="14"/>
                  </a:lnTo>
                  <a:lnTo>
                    <a:pt x="47" y="0"/>
                  </a:lnTo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  <a:prstDash val="solid"/>
              <a:round/>
              <a:headEnd/>
              <a:tailEnd/>
            </a:ln>
            <a:extLst/>
          </p:spPr>
          <p:txBody>
            <a:bodyPr vert="vert" anchor="t" anchorCtr="0"/>
            <a:lstStyle/>
            <a:p>
              <a:endParaRPr lang="en-US" dirty="0" smtClean="0"/>
            </a:p>
            <a:p>
              <a:r>
                <a:rPr lang="en-US" dirty="0" smtClean="0"/>
                <a:t>       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52800" y="590550"/>
              <a:ext cx="685800" cy="381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000090"/>
                  </a:solidFill>
                </a:rPr>
                <a:t>A</a:t>
              </a:r>
              <a:endParaRPr lang="en-US" dirty="0">
                <a:solidFill>
                  <a:srgbClr val="00009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191000" y="590550"/>
              <a:ext cx="685800" cy="381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90"/>
                  </a:solidFill>
                </a:rPr>
                <a:t>B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810000" y="2343150"/>
              <a:ext cx="685800" cy="381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90"/>
                  </a:solidFill>
                </a:rPr>
                <a:t>F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86200" y="1440418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ALU</a:t>
              </a:r>
              <a:endParaRPr lang="en-US" dirty="0"/>
            </a:p>
          </p:txBody>
        </p:sp>
        <p:cxnSp>
          <p:nvCxnSpPr>
            <p:cNvPr id="12" name="Straight Arrow Connector 11"/>
            <p:cNvCxnSpPr>
              <a:endCxn id="9" idx="0"/>
            </p:cNvCxnSpPr>
            <p:nvPr/>
          </p:nvCxnSpPr>
          <p:spPr>
            <a:xfrm>
              <a:off x="4114800" y="1962150"/>
              <a:ext cx="360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7" idx="2"/>
            </p:cNvCxnSpPr>
            <p:nvPr/>
          </p:nvCxnSpPr>
          <p:spPr>
            <a:xfrm>
              <a:off x="3695700" y="971550"/>
              <a:ext cx="3810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2"/>
            </p:cNvCxnSpPr>
            <p:nvPr/>
          </p:nvCxnSpPr>
          <p:spPr>
            <a:xfrm flipH="1">
              <a:off x="4495800" y="971550"/>
              <a:ext cx="38100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101600" y="3733800"/>
            <a:ext cx="21336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2000" dirty="0" smtClean="0"/>
              <a:t>Assume A, B and F are n-bit registers</a:t>
            </a:r>
            <a:endParaRPr lang="en-US" sz="20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3556000" y="482600"/>
            <a:ext cx="1930400" cy="2198132"/>
            <a:chOff x="2667000" y="514350"/>
            <a:chExt cx="1447800" cy="1648599"/>
          </a:xfrm>
        </p:grpSpPr>
        <p:sp>
          <p:nvSpPr>
            <p:cNvPr id="19" name="Rectangle 18"/>
            <p:cNvSpPr/>
            <p:nvPr/>
          </p:nvSpPr>
          <p:spPr>
            <a:xfrm>
              <a:off x="2895600" y="1200150"/>
              <a:ext cx="9144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000090"/>
                  </a:solidFill>
                </a:rPr>
                <a:t>NOR</a:t>
              </a:r>
              <a:endParaRPr lang="en-US" dirty="0">
                <a:solidFill>
                  <a:srgbClr val="000090"/>
                </a:solidFill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3657600" y="8953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3048000" y="8953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3505200" y="8953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352800" y="1657350"/>
              <a:ext cx="0" cy="304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819400" y="51435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</a:t>
              </a:r>
              <a:r>
                <a:rPr lang="en-US" baseline="-25000" dirty="0" smtClean="0"/>
                <a:t>n-1</a:t>
              </a:r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76600" y="514350"/>
              <a:ext cx="381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</a:t>
              </a:r>
              <a:r>
                <a:rPr lang="en-US" baseline="-25000" dirty="0"/>
                <a:t>1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581400" y="514350"/>
              <a:ext cx="381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</a:t>
              </a:r>
              <a:r>
                <a:rPr lang="en-US" baseline="-25000" dirty="0" smtClean="0"/>
                <a:t>0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667000" y="1885950"/>
              <a:ext cx="1447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Z Flag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48000" y="666750"/>
              <a:ext cx="533400" cy="496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700" b="1" dirty="0"/>
                <a:t>…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946400" y="3225799"/>
            <a:ext cx="2235200" cy="1400889"/>
            <a:chOff x="2209800" y="2495550"/>
            <a:chExt cx="1676400" cy="1050667"/>
          </a:xfrm>
        </p:grpSpPr>
        <p:sp>
          <p:nvSpPr>
            <p:cNvPr id="31" name="Rectangle 30"/>
            <p:cNvSpPr/>
            <p:nvPr/>
          </p:nvSpPr>
          <p:spPr>
            <a:xfrm>
              <a:off x="2819400" y="2495550"/>
              <a:ext cx="1066800" cy="381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90"/>
                  </a:solidFill>
                </a:rPr>
                <a:t>F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2971800" y="28765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514600" y="280035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</a:t>
              </a:r>
              <a:r>
                <a:rPr lang="en-US" baseline="-25000" dirty="0" smtClean="0"/>
                <a:t>n-1</a:t>
              </a:r>
              <a:endParaRPr 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209800" y="3269218"/>
              <a:ext cx="1447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</a:t>
              </a:r>
              <a:r>
                <a:rPr lang="en-US" dirty="0" smtClean="0"/>
                <a:t> Flag</a:t>
              </a:r>
              <a:endParaRPr lang="en-US" dirty="0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>
              <a:off x="3733800" y="28765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3505200" y="28765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3048000" y="2658130"/>
              <a:ext cx="533400" cy="496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700" b="1" dirty="0"/>
                <a:t>…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807200" y="584199"/>
            <a:ext cx="2946400" cy="1400889"/>
            <a:chOff x="4191000" y="2343150"/>
            <a:chExt cx="2209800" cy="1050667"/>
          </a:xfrm>
        </p:grpSpPr>
        <p:sp>
          <p:nvSpPr>
            <p:cNvPr id="41" name="Rectangle 40"/>
            <p:cNvSpPr/>
            <p:nvPr/>
          </p:nvSpPr>
          <p:spPr>
            <a:xfrm>
              <a:off x="5334000" y="2343150"/>
              <a:ext cx="1066800" cy="381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90"/>
                  </a:solidFill>
                </a:rPr>
                <a:t>F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>
              <a:off x="5486400" y="27241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4191000" y="249555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Carry out</a:t>
              </a:r>
              <a:endParaRPr lang="en-US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495800" y="3116818"/>
              <a:ext cx="990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 Flag</a:t>
              </a:r>
              <a:endParaRPr lang="en-US" dirty="0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>
              <a:off x="6248400" y="27241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6019800" y="2724150"/>
              <a:ext cx="0" cy="4572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562600" y="2505730"/>
              <a:ext cx="533400" cy="496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700" b="1" dirty="0"/>
                <a:t>…</a:t>
              </a:r>
            </a:p>
          </p:txBody>
        </p:sp>
        <p:cxnSp>
          <p:nvCxnSpPr>
            <p:cNvPr id="49" name="Straight Connector 48"/>
            <p:cNvCxnSpPr/>
            <p:nvPr/>
          </p:nvCxnSpPr>
          <p:spPr>
            <a:xfrm flipH="1">
              <a:off x="4953000" y="2495550"/>
              <a:ext cx="381000" cy="360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953000" y="2495550"/>
              <a:ext cx="0" cy="6858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6400800" y="2311400"/>
            <a:ext cx="5486400" cy="26673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pPr marL="232828" indent="-232828">
              <a:buFont typeface="Arial"/>
              <a:buChar char="•"/>
            </a:pPr>
            <a:r>
              <a:rPr lang="en-US" sz="2400" dirty="0"/>
              <a:t>Overflow can occur during addition when the sign of the two operands are the same.</a:t>
            </a:r>
          </a:p>
          <a:p>
            <a:pPr marL="952485" lvl="1" indent="-342900">
              <a:spcAft>
                <a:spcPts val="800"/>
              </a:spcAft>
              <a:buFont typeface="Arial"/>
              <a:buChar char="•"/>
            </a:pPr>
            <a:r>
              <a:rPr lang="en-US" sz="2000" dirty="0" smtClean="0"/>
              <a:t>Sign of the result becomes different from the sign of the operand(s).</a:t>
            </a:r>
          </a:p>
          <a:p>
            <a:pPr lvl="1">
              <a:spcAft>
                <a:spcPts val="800"/>
              </a:spcAft>
            </a:pPr>
            <a:r>
              <a:rPr lang="en-US" sz="2000" dirty="0" smtClean="0">
                <a:solidFill>
                  <a:srgbClr val="800000"/>
                </a:solidFill>
              </a:rPr>
              <a:t>V = A</a:t>
            </a:r>
            <a:r>
              <a:rPr lang="en-US" sz="2000" baseline="-25000" dirty="0" smtClean="0">
                <a:solidFill>
                  <a:srgbClr val="800000"/>
                </a:solidFill>
              </a:rPr>
              <a:t>n-1</a:t>
            </a:r>
            <a:r>
              <a:rPr lang="en-US" sz="2000" dirty="0" smtClean="0">
                <a:solidFill>
                  <a:srgbClr val="800000"/>
                </a:solidFill>
              </a:rPr>
              <a:t>.B</a:t>
            </a:r>
            <a:r>
              <a:rPr lang="en-US" sz="2000" baseline="-25000" dirty="0" smtClean="0">
                <a:solidFill>
                  <a:srgbClr val="800000"/>
                </a:solidFill>
              </a:rPr>
              <a:t>n-1</a:t>
            </a:r>
            <a:r>
              <a:rPr lang="en-US" sz="2000" dirty="0" smtClean="0">
                <a:solidFill>
                  <a:srgbClr val="800000"/>
                </a:solidFill>
              </a:rPr>
              <a:t>.F</a:t>
            </a:r>
            <a:r>
              <a:rPr lang="en-US" sz="2000" baseline="-25000" dirty="0" smtClean="0">
                <a:solidFill>
                  <a:srgbClr val="800000"/>
                </a:solidFill>
              </a:rPr>
              <a:t>n-1</a:t>
            </a:r>
            <a:r>
              <a:rPr lang="en-US" sz="2000" dirty="0" smtClean="0">
                <a:solidFill>
                  <a:srgbClr val="800000"/>
                </a:solidFill>
              </a:rPr>
              <a:t>’ + </a:t>
            </a:r>
            <a:r>
              <a:rPr lang="en-US" sz="2000" dirty="0">
                <a:solidFill>
                  <a:srgbClr val="800000"/>
                </a:solidFill>
              </a:rPr>
              <a:t>A</a:t>
            </a:r>
            <a:r>
              <a:rPr lang="en-US" sz="2000" baseline="-25000" dirty="0">
                <a:solidFill>
                  <a:srgbClr val="800000"/>
                </a:solidFill>
              </a:rPr>
              <a:t>n-</a:t>
            </a:r>
            <a:r>
              <a:rPr lang="en-US" sz="2000" baseline="-25000" dirty="0" smtClean="0">
                <a:solidFill>
                  <a:srgbClr val="800000"/>
                </a:solidFill>
              </a:rPr>
              <a:t>1</a:t>
            </a:r>
            <a:r>
              <a:rPr lang="en-US" sz="2000" dirty="0" smtClean="0">
                <a:solidFill>
                  <a:srgbClr val="800000"/>
                </a:solidFill>
              </a:rPr>
              <a:t>’.</a:t>
            </a:r>
            <a:r>
              <a:rPr lang="en-US" sz="2000" dirty="0">
                <a:solidFill>
                  <a:srgbClr val="800000"/>
                </a:solidFill>
              </a:rPr>
              <a:t>B</a:t>
            </a:r>
            <a:r>
              <a:rPr lang="en-US" sz="2000" baseline="-25000" dirty="0">
                <a:solidFill>
                  <a:srgbClr val="800000"/>
                </a:solidFill>
              </a:rPr>
              <a:t>n-</a:t>
            </a:r>
            <a:r>
              <a:rPr lang="en-US" sz="2000" baseline="-25000" dirty="0" smtClean="0">
                <a:solidFill>
                  <a:srgbClr val="800000"/>
                </a:solidFill>
              </a:rPr>
              <a:t>1</a:t>
            </a:r>
            <a:r>
              <a:rPr lang="en-US" sz="2000" dirty="0" smtClean="0">
                <a:solidFill>
                  <a:srgbClr val="800000"/>
                </a:solidFill>
              </a:rPr>
              <a:t>’.</a:t>
            </a:r>
            <a:r>
              <a:rPr lang="en-US" sz="2000" dirty="0">
                <a:solidFill>
                  <a:srgbClr val="800000"/>
                </a:solidFill>
              </a:rPr>
              <a:t>F</a:t>
            </a:r>
            <a:r>
              <a:rPr lang="en-US" sz="2000" baseline="-25000" dirty="0">
                <a:solidFill>
                  <a:srgbClr val="800000"/>
                </a:solidFill>
              </a:rPr>
              <a:t>n-</a:t>
            </a:r>
            <a:r>
              <a:rPr lang="en-US" sz="2000" baseline="-25000" dirty="0" smtClean="0">
                <a:solidFill>
                  <a:srgbClr val="800000"/>
                </a:solidFill>
              </a:rPr>
              <a:t>1</a:t>
            </a:r>
            <a:endParaRPr lang="en-US" sz="2000" dirty="0" smtClean="0">
              <a:solidFill>
                <a:srgbClr val="800000"/>
              </a:solidFill>
            </a:endParaRPr>
          </a:p>
          <a:p>
            <a:pPr lvl="1"/>
            <a:r>
              <a:rPr lang="en-US" sz="2000" dirty="0" smtClean="0">
                <a:solidFill>
                  <a:srgbClr val="800000"/>
                </a:solidFill>
              </a:rPr>
              <a:t>V = F</a:t>
            </a:r>
            <a:r>
              <a:rPr lang="en-US" sz="2000" baseline="-25000" dirty="0" smtClean="0">
                <a:solidFill>
                  <a:srgbClr val="800000"/>
                </a:solidFill>
              </a:rPr>
              <a:t>n-1</a:t>
            </a:r>
            <a:r>
              <a:rPr lang="en-US" sz="2000" dirty="0" smtClean="0">
                <a:solidFill>
                  <a:srgbClr val="800000"/>
                </a:solidFill>
              </a:rPr>
              <a:t> </a:t>
            </a:r>
            <a:r>
              <a:rPr lang="en-US" sz="2000" dirty="0" smtClean="0">
                <a:solidFill>
                  <a:srgbClr val="800000"/>
                </a:solidFill>
                <a:sym typeface="Symbol" charset="0"/>
              </a:rPr>
              <a:t> </a:t>
            </a:r>
            <a:r>
              <a:rPr lang="en-US" sz="2000" dirty="0" err="1" smtClean="0">
                <a:solidFill>
                  <a:srgbClr val="800000"/>
                </a:solidFill>
                <a:sym typeface="Symbol" charset="0"/>
              </a:rPr>
              <a:t>Carry_out</a:t>
            </a:r>
            <a:endParaRPr lang="en-US" sz="20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780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The MIPS architecture does not have any status flags.</a:t>
            </a:r>
          </a:p>
          <a:p>
            <a:r>
              <a:rPr lang="en-US" sz="2700" dirty="0"/>
              <a:t>Why?</a:t>
            </a:r>
          </a:p>
          <a:p>
            <a:pPr lvl="1"/>
            <a:r>
              <a:rPr lang="en-US" dirty="0"/>
              <a:t>MIPS ISA is designed for efficient pipeline implementation.</a:t>
            </a:r>
          </a:p>
          <a:p>
            <a:pPr lvl="1"/>
            <a:r>
              <a:rPr lang="en-US" dirty="0"/>
              <a:t>Several instructions can be in various stages of execution in the pipeline.</a:t>
            </a:r>
          </a:p>
          <a:p>
            <a:pPr lvl="1"/>
            <a:r>
              <a:rPr lang="en-US" dirty="0"/>
              <a:t>Flag registers result in </a:t>
            </a:r>
            <a:r>
              <a:rPr lang="en-US" b="1" i="1" dirty="0">
                <a:solidFill>
                  <a:srgbClr val="800000"/>
                </a:solidFill>
              </a:rPr>
              <a:t>side effects </a:t>
            </a:r>
            <a:r>
              <a:rPr lang="en-US" dirty="0"/>
              <a:t>among instructions.</a:t>
            </a:r>
          </a:p>
          <a:p>
            <a:r>
              <a:rPr lang="en-US" sz="2700" dirty="0"/>
              <a:t>MIPS stores information about the flags temporarily in a GPR.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40000" y="5081337"/>
            <a:ext cx="3355474" cy="9079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sz="2700" dirty="0"/>
              <a:t>  </a:t>
            </a:r>
            <a:r>
              <a:rPr lang="en-US" sz="2400" dirty="0" err="1">
                <a:solidFill>
                  <a:srgbClr val="000090"/>
                </a:solidFill>
              </a:rPr>
              <a:t>slt</a:t>
            </a:r>
            <a:r>
              <a:rPr lang="en-US" sz="2400" dirty="0">
                <a:solidFill>
                  <a:srgbClr val="000090"/>
                </a:solidFill>
              </a:rPr>
              <a:t>	$t0, $s1, $s2</a:t>
            </a:r>
          </a:p>
          <a:p>
            <a:r>
              <a:rPr lang="en-US" sz="2400" dirty="0">
                <a:solidFill>
                  <a:srgbClr val="000090"/>
                </a:solidFill>
              </a:rPr>
              <a:t>  </a:t>
            </a:r>
            <a:r>
              <a:rPr lang="en-US" sz="2400" dirty="0" err="1">
                <a:solidFill>
                  <a:srgbClr val="000090"/>
                </a:solidFill>
              </a:rPr>
              <a:t>beq</a:t>
            </a:r>
            <a:r>
              <a:rPr lang="en-US" sz="2400" dirty="0">
                <a:solidFill>
                  <a:srgbClr val="000090"/>
                </a:solidFill>
              </a:rPr>
              <a:t>	$t0, $zero, Label</a:t>
            </a:r>
          </a:p>
        </p:txBody>
      </p:sp>
    </p:spTree>
    <p:extLst>
      <p:ext uri="{BB962C8B-B14F-4D97-AF65-F5344CB8AC3E}">
        <p14:creationId xmlns:p14="http://schemas.microsoft.com/office/powerpoint/2010/main" val="25053963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</TotalTime>
  <Words>2370</Words>
  <Application>Microsoft Macintosh PowerPoint</Application>
  <PresentationFormat>Custom</PresentationFormat>
  <Paragraphs>579</Paragraphs>
  <Slides>36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Office Theme</vt:lpstr>
      <vt:lpstr>Visio</vt:lpstr>
      <vt:lpstr>PowerPoint Presentation</vt:lpstr>
      <vt:lpstr>Computer Arithmetic</vt:lpstr>
      <vt:lpstr>Introduction</vt:lpstr>
      <vt:lpstr>Addition / Subtraction</vt:lpstr>
      <vt:lpstr>Addition of Two Binary Digits (Bits)</vt:lpstr>
      <vt:lpstr>Addition of Multi-bit Binary Numbers</vt:lpstr>
      <vt:lpstr>PowerPoint Presentation</vt:lpstr>
      <vt:lpstr>Various Implementations of Full Adder</vt:lpstr>
      <vt:lpstr>PowerPoint Presentation</vt:lpstr>
      <vt:lpstr>Parallel Adder Design</vt:lpstr>
      <vt:lpstr>Ripple Carry Adder</vt:lpstr>
      <vt:lpstr>PowerPoint Presentation</vt:lpstr>
      <vt:lpstr>How to Design a Parallel Subtractor?</vt:lpstr>
      <vt:lpstr>A Parallel Adder/Subtractor</vt:lpstr>
      <vt:lpstr>Carry Look-ahead Adder</vt:lpstr>
      <vt:lpstr>PowerPoint Presentation</vt:lpstr>
      <vt:lpstr>Unrolling the Recurrence</vt:lpstr>
      <vt:lpstr>Design of 4-bit CLA Adder</vt:lpstr>
      <vt:lpstr>Design of 4-bit CLA Adder</vt:lpstr>
      <vt:lpstr>Design of 4-bit CLA Adder</vt:lpstr>
      <vt:lpstr>The 4-bit CLA Circuit</vt:lpstr>
      <vt:lpstr>PowerPoint Presentation</vt:lpstr>
      <vt:lpstr>16-bit Adder Using 4-bit CLA Modules</vt:lpstr>
      <vt:lpstr>PowerPoint Presentation</vt:lpstr>
      <vt:lpstr>Delay of a k-bit Adder</vt:lpstr>
      <vt:lpstr>Carry Select Adder</vt:lpstr>
      <vt:lpstr>PowerPoint Presentation</vt:lpstr>
      <vt:lpstr>PowerPoint Presentation</vt:lpstr>
      <vt:lpstr>PowerPoint Presentation</vt:lpstr>
      <vt:lpstr>Carry Save Adder</vt:lpstr>
      <vt:lpstr>PowerPoint Presentation</vt:lpstr>
      <vt:lpstr>An n-bit Carry Save Adder</vt:lpstr>
      <vt:lpstr>Adding m Numbers: Some Examples</vt:lpstr>
      <vt:lpstr>Generating the Status Flags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Indranil Sengupta</cp:lastModifiedBy>
  <cp:revision>112</cp:revision>
  <cp:lastPrinted>2023-08-31T01:20:12Z</cp:lastPrinted>
  <dcterms:created xsi:type="dcterms:W3CDTF">2023-07-29T11:53:22Z</dcterms:created>
  <dcterms:modified xsi:type="dcterms:W3CDTF">2023-10-03T02:25:25Z</dcterms:modified>
</cp:coreProperties>
</file>